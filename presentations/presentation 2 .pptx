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10"/>
  </p:notesMasterIdLst>
  <p:sldIdLst>
    <p:sldId id="256" r:id="rId2"/>
    <p:sldId id="257" r:id="rId3"/>
    <p:sldId id="258" r:id="rId4"/>
    <p:sldId id="259" r:id="rId5"/>
    <p:sldId id="261" r:id="rId6"/>
    <p:sldId id="262" r:id="rId7"/>
    <p:sldId id="263" r:id="rId8"/>
    <p:sldId id="264" r:id="rId9"/>
  </p:sldIdLst>
  <p:sldSz cx="9144000" cy="5143500" type="screen16x9"/>
  <p:notesSz cx="51435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5381" autoAdjust="0"/>
    <p:restoredTop sz="94610"/>
  </p:normalViewPr>
  <p:slideViewPr>
    <p:cSldViewPr snapToGrid="0" snapToObjects="1">
      <p:cViewPr>
        <p:scale>
          <a:sx n="124" d="100"/>
          <a:sy n="124" d="100"/>
        </p:scale>
        <p:origin x="1992" y="5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0712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section divider for Section 2. Transition from the previous section and introduce the two main topics: how we built the dataset, and the preprocessing decisions we made before running models in Jad Bio.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comes from two of the most widely used publicly available databases in olfactory research: GoodScents and the Leffingwell PMP 2001 compendium. Both contain odor descriptors assigned by trained perfumers and flavor chemists — so these are high-quality, expert-curated labels. Together they give us 4,983 molecules. The challenge is that the original label space is enormous: 138 different odor descriptors. This creates a two-part problem that we'll address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problem is that our data is multi-label — each molecule can have multiple odor descriptors assigned simultaneously. Jad Bio doesn't support multi-label classification natively, so we convert to binary classifiers. The obvious solution is to train one binary classifier per descriptor — one-vs-rest — but that means 138 models, which is completely impractical for this validation phase. The solution is to cluster the 138 descriptors into 12 semantically coherent metacategories using a lookup table established by a previous student and shared by our tutor. This reduces the problem to just 12 binary classifiers — one per metacategory — which is manageable. A bonus: each label now has significantly more positive examples, which also reduces sparsity.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distribution of positive samples across our 12 metacategories. There's a very wide range: Fruity has 2,282 positive samples — 45.8% of the dataset — while Citrus has only 513 at 10.3%. I've color-coded them by imbalance level. The top three labels — Fruity, Green, and Chemical — are relatively balanced at 43 to 46%. As we go down the list, the imbalance becomes progressively more severe. This has direct consequences for model training, which we'll see shortly. Importantly, for the balanced labels we did not apply SMOTE — only imbalanced labels required intervention.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what happens concretely when we train on an imbalanced label. Animal Musk has 772 positive samples out of 4,981 — just 15.5% of the dataset. When we train directly without balancing, we get an accuracy of 87.9% — which looks acceptable at first glance. But the True Positive Rate is only 35.4%. The model is missing 65% of actual Animal Musk molecules. It has simply learned to say 'not Animal Musk' most of the time, which is correct 84.5% of the time by default. But the real problem goes beyond bad metrics: the feature selection becomes corrupted. The features being selected are those that best identify non-musk molecules — not those that characterize Animal Musk chemistry. This is a fundamental validity problem, not just a performance issue. This is the core motivation for SMOTE.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address class imbalance, we use SMOTE — Synthetic Minority Over-sampling Technique. The key idea is to generate synthetic minority class samples by interpolating between existing minority samples in feature space — not in chemical space. Step 1: we start with our imbalanced dataset. Step 2: for each minority sample x_i, we identify its k nearest neighbors among the other minority samples. Step 3: we generate a new synthetic sample by picking a random point along the line connecting x_i to one of its neighbors x_nn. The formula is: x_new equals x_i plus lambda times open parenthesis x_nn minus x_i close parenthesis, where lambda is drawn uniformly from 0 to 1. Step 4: we repeat this until the classes are balanced. The crucial point: SMOTE operates in feature descriptor space. It does not create new molecular structures. It interpolates between molecular descriptor vectors of real molecules. This distinction is central to the validity of our approach.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evidence for why SMOTE is necessary for imbalanced labels. On the left, before balancing: the very first feature EState_VSA2 alone already achieves around 85% performance. This is a red flag — no single feature should dominate that much for a genuinely complex olfactory label. What's happening is the model is using EState_VSA2 to identify non-Animal-Musk molecules very efficiently, because that's what the majority class looks like. Then performance quickly plateaus — almost no new information is added by subsequent features. On the right, after SMOTE: the first feature GeomDiameter starts at only about 60%, and performance builds gradually and more meaningfully as features are added. This is the expected behavior when a model is genuinely learning the chemistry of the positive class. The feature set also changes substantially — different features emerge as important when the model can no longer cheat by predicting the majority class.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can we trust the feature selection from SMOTE-balanced data, even though some training samples are synthetic? The argument has three pillars. First, SMOTE is a statistical prior correction tool. It doesn't create new chemical patterns — it rebalances the probability distribution so the classifier pays equal attention to both classes. All the chemistry comes from real molecules. Second, we applied SMOTE only to the training split. The test set contains only real molecules. This is why we discard Jad Bio's evaluation metrics — they were computed on a partition that includes synthetic samples — but it does not invalidate the feature selection. Third, and most importantly: after balancing, the features selected are those that genuinely characterize Animal Musk chemistry in the real minority samples. The synthetic samples don't introduce new information — they just ensure the minority class signal isn't drowned out during training. The bottom line: discard the metrics, keep the features — that's our position, and it is methodologically sound.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EBBBE-536E-4C8F-9F0F-CB95CB938DA8}"/>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fr-FR"/>
          </a:p>
        </p:txBody>
      </p:sp>
      <p:sp>
        <p:nvSpPr>
          <p:cNvPr id="3" name="Subtitle 2">
            <a:extLst>
              <a:ext uri="{FF2B5EF4-FFF2-40B4-BE49-F238E27FC236}">
                <a16:creationId xmlns:a16="http://schemas.microsoft.com/office/drawing/2014/main" id="{DD954F52-0462-4914-B545-74696009131D}"/>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fr-FR"/>
          </a:p>
        </p:txBody>
      </p:sp>
      <p:sp>
        <p:nvSpPr>
          <p:cNvPr id="4" name="Date Placeholder 3">
            <a:extLst>
              <a:ext uri="{FF2B5EF4-FFF2-40B4-BE49-F238E27FC236}">
                <a16:creationId xmlns:a16="http://schemas.microsoft.com/office/drawing/2014/main" id="{A01F4312-788E-401F-A4A9-D360FAE4161E}"/>
              </a:ext>
            </a:extLst>
          </p:cNvPr>
          <p:cNvSpPr>
            <a:spLocks noGrp="1"/>
          </p:cNvSpPr>
          <p:nvPr>
            <p:ph type="dt" sz="half" idx="10"/>
          </p:nvPr>
        </p:nvSpPr>
        <p:spPr/>
        <p:txBody>
          <a:bodyPr/>
          <a:lstStyle/>
          <a:p>
            <a:fld id="{268E239F-B778-4FA6-BD36-20B7F8E7FC2E}" type="datetimeFigureOut">
              <a:rPr lang="fr-FR" smtClean="0"/>
              <a:t>20/05/2026</a:t>
            </a:fld>
            <a:endParaRPr lang="fr-FR"/>
          </a:p>
        </p:txBody>
      </p:sp>
      <p:sp>
        <p:nvSpPr>
          <p:cNvPr id="5" name="Footer Placeholder 4">
            <a:extLst>
              <a:ext uri="{FF2B5EF4-FFF2-40B4-BE49-F238E27FC236}">
                <a16:creationId xmlns:a16="http://schemas.microsoft.com/office/drawing/2014/main" id="{C695A2C1-E44F-4EC6-B410-4B302A19871C}"/>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CA5F564C-08D8-4A43-A8F2-E2A7B6347E07}"/>
              </a:ext>
            </a:extLst>
          </p:cNvPr>
          <p:cNvSpPr>
            <a:spLocks noGrp="1"/>
          </p:cNvSpPr>
          <p:nvPr>
            <p:ph type="sldNum" sz="quarter" idx="12"/>
          </p:nvPr>
        </p:nvSpPr>
        <p:spPr/>
        <p:txBody>
          <a:bodyPr/>
          <a:lstStyle/>
          <a:p>
            <a:fld id="{EB431C9B-C859-4D8C-870C-65099FB887DA}" type="slidenum">
              <a:rPr lang="fr-FR" smtClean="0"/>
              <a:t>‹#›</a:t>
            </a:fld>
            <a:endParaRPr lang="fr-FR"/>
          </a:p>
        </p:txBody>
      </p:sp>
    </p:spTree>
    <p:extLst>
      <p:ext uri="{BB962C8B-B14F-4D97-AF65-F5344CB8AC3E}">
        <p14:creationId xmlns:p14="http://schemas.microsoft.com/office/powerpoint/2010/main" val="325495312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260F5-3D44-4550-90A2-21047CB93F03}"/>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687CA978-DC66-4BBB-96DF-34F6EE902F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CB5BA7F3-8985-4467-A335-DE42695FC46D}"/>
              </a:ext>
            </a:extLst>
          </p:cNvPr>
          <p:cNvSpPr>
            <a:spLocks noGrp="1"/>
          </p:cNvSpPr>
          <p:nvPr>
            <p:ph type="dt" sz="half" idx="10"/>
          </p:nvPr>
        </p:nvSpPr>
        <p:spPr/>
        <p:txBody>
          <a:bodyPr/>
          <a:lstStyle/>
          <a:p>
            <a:fld id="{268E239F-B778-4FA6-BD36-20B7F8E7FC2E}" type="datetimeFigureOut">
              <a:rPr lang="fr-FR" smtClean="0"/>
              <a:t>20/05/2026</a:t>
            </a:fld>
            <a:endParaRPr lang="fr-FR"/>
          </a:p>
        </p:txBody>
      </p:sp>
      <p:sp>
        <p:nvSpPr>
          <p:cNvPr id="5" name="Footer Placeholder 4">
            <a:extLst>
              <a:ext uri="{FF2B5EF4-FFF2-40B4-BE49-F238E27FC236}">
                <a16:creationId xmlns:a16="http://schemas.microsoft.com/office/drawing/2014/main" id="{61339CD4-643D-4E3B-AD8C-0C4AAC164FA9}"/>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1A8A2CC8-DCDF-41A1-BB15-622FC9445DA6}"/>
              </a:ext>
            </a:extLst>
          </p:cNvPr>
          <p:cNvSpPr>
            <a:spLocks noGrp="1"/>
          </p:cNvSpPr>
          <p:nvPr>
            <p:ph type="sldNum" sz="quarter" idx="12"/>
          </p:nvPr>
        </p:nvSpPr>
        <p:spPr/>
        <p:txBody>
          <a:bodyPr/>
          <a:lstStyle/>
          <a:p>
            <a:fld id="{EB431C9B-C859-4D8C-870C-65099FB887DA}" type="slidenum">
              <a:rPr lang="fr-FR" smtClean="0"/>
              <a:t>‹#›</a:t>
            </a:fld>
            <a:endParaRPr lang="fr-FR"/>
          </a:p>
        </p:txBody>
      </p:sp>
    </p:spTree>
    <p:extLst>
      <p:ext uri="{BB962C8B-B14F-4D97-AF65-F5344CB8AC3E}">
        <p14:creationId xmlns:p14="http://schemas.microsoft.com/office/powerpoint/2010/main" val="405757137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A5CA9-DFC7-46E4-9FC7-B060A82963BB}"/>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fr-FR"/>
          </a:p>
        </p:txBody>
      </p:sp>
      <p:sp>
        <p:nvSpPr>
          <p:cNvPr id="3" name="Text Placeholder 2">
            <a:extLst>
              <a:ext uri="{FF2B5EF4-FFF2-40B4-BE49-F238E27FC236}">
                <a16:creationId xmlns:a16="http://schemas.microsoft.com/office/drawing/2014/main" id="{0BF45C1B-1E88-459F-8620-B16FC0096B17}"/>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2E2F02-652C-4815-B213-355DF2D556B8}"/>
              </a:ext>
            </a:extLst>
          </p:cNvPr>
          <p:cNvSpPr>
            <a:spLocks noGrp="1"/>
          </p:cNvSpPr>
          <p:nvPr>
            <p:ph type="dt" sz="half" idx="10"/>
          </p:nvPr>
        </p:nvSpPr>
        <p:spPr/>
        <p:txBody>
          <a:bodyPr/>
          <a:lstStyle/>
          <a:p>
            <a:fld id="{268E239F-B778-4FA6-BD36-20B7F8E7FC2E}" type="datetimeFigureOut">
              <a:rPr lang="fr-FR" smtClean="0"/>
              <a:t>20/05/2026</a:t>
            </a:fld>
            <a:endParaRPr lang="fr-FR"/>
          </a:p>
        </p:txBody>
      </p:sp>
      <p:sp>
        <p:nvSpPr>
          <p:cNvPr id="5" name="Footer Placeholder 4">
            <a:extLst>
              <a:ext uri="{FF2B5EF4-FFF2-40B4-BE49-F238E27FC236}">
                <a16:creationId xmlns:a16="http://schemas.microsoft.com/office/drawing/2014/main" id="{2358E036-2C9E-43F6-B430-A48C1EB7400B}"/>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2962508A-2B48-465F-9ECB-D9CA78F81366}"/>
              </a:ext>
            </a:extLst>
          </p:cNvPr>
          <p:cNvSpPr>
            <a:spLocks noGrp="1"/>
          </p:cNvSpPr>
          <p:nvPr>
            <p:ph type="sldNum" sz="quarter" idx="12"/>
          </p:nvPr>
        </p:nvSpPr>
        <p:spPr/>
        <p:txBody>
          <a:bodyPr/>
          <a:lstStyle/>
          <a:p>
            <a:fld id="{EB431C9B-C859-4D8C-870C-65099FB887DA}" type="slidenum">
              <a:rPr lang="fr-FR" smtClean="0"/>
              <a:t>‹#›</a:t>
            </a:fld>
            <a:endParaRPr lang="fr-FR"/>
          </a:p>
        </p:txBody>
      </p:sp>
    </p:spTree>
    <p:extLst>
      <p:ext uri="{BB962C8B-B14F-4D97-AF65-F5344CB8AC3E}">
        <p14:creationId xmlns:p14="http://schemas.microsoft.com/office/powerpoint/2010/main" val="227398601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4C47E-250C-46ED-840B-E97D32A02078}"/>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BDA53671-4FE8-43B3-B09A-05DBD2EB964E}"/>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a:extLst>
              <a:ext uri="{FF2B5EF4-FFF2-40B4-BE49-F238E27FC236}">
                <a16:creationId xmlns:a16="http://schemas.microsoft.com/office/drawing/2014/main" id="{892C4E58-9C84-4934-98E3-BAC32B8EA6FD}"/>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Date Placeholder 4">
            <a:extLst>
              <a:ext uri="{FF2B5EF4-FFF2-40B4-BE49-F238E27FC236}">
                <a16:creationId xmlns:a16="http://schemas.microsoft.com/office/drawing/2014/main" id="{C6474A2F-A95B-4629-949F-4E26F4A1A5B0}"/>
              </a:ext>
            </a:extLst>
          </p:cNvPr>
          <p:cNvSpPr>
            <a:spLocks noGrp="1"/>
          </p:cNvSpPr>
          <p:nvPr>
            <p:ph type="dt" sz="half" idx="10"/>
          </p:nvPr>
        </p:nvSpPr>
        <p:spPr/>
        <p:txBody>
          <a:bodyPr/>
          <a:lstStyle/>
          <a:p>
            <a:fld id="{268E239F-B778-4FA6-BD36-20B7F8E7FC2E}" type="datetimeFigureOut">
              <a:rPr lang="fr-FR" smtClean="0"/>
              <a:t>20/05/2026</a:t>
            </a:fld>
            <a:endParaRPr lang="fr-FR"/>
          </a:p>
        </p:txBody>
      </p:sp>
      <p:sp>
        <p:nvSpPr>
          <p:cNvPr id="6" name="Footer Placeholder 5">
            <a:extLst>
              <a:ext uri="{FF2B5EF4-FFF2-40B4-BE49-F238E27FC236}">
                <a16:creationId xmlns:a16="http://schemas.microsoft.com/office/drawing/2014/main" id="{1D36A406-D06D-41F0-B03E-4366E742C256}"/>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D476A1A8-C7D0-4966-AA3B-DA4F254AC32B}"/>
              </a:ext>
            </a:extLst>
          </p:cNvPr>
          <p:cNvSpPr>
            <a:spLocks noGrp="1"/>
          </p:cNvSpPr>
          <p:nvPr>
            <p:ph type="sldNum" sz="quarter" idx="12"/>
          </p:nvPr>
        </p:nvSpPr>
        <p:spPr/>
        <p:txBody>
          <a:bodyPr/>
          <a:lstStyle/>
          <a:p>
            <a:fld id="{EB431C9B-C859-4D8C-870C-65099FB887DA}" type="slidenum">
              <a:rPr lang="fr-FR" smtClean="0"/>
              <a:t>‹#›</a:t>
            </a:fld>
            <a:endParaRPr lang="fr-FR"/>
          </a:p>
        </p:txBody>
      </p:sp>
    </p:spTree>
    <p:extLst>
      <p:ext uri="{BB962C8B-B14F-4D97-AF65-F5344CB8AC3E}">
        <p14:creationId xmlns:p14="http://schemas.microsoft.com/office/powerpoint/2010/main" val="318856126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8238B-7581-433C-A141-CEACE1F04DBC}"/>
              </a:ext>
            </a:extLst>
          </p:cNvPr>
          <p:cNvSpPr>
            <a:spLocks noGrp="1"/>
          </p:cNvSpPr>
          <p:nvPr>
            <p:ph type="title"/>
          </p:nvPr>
        </p:nvSpPr>
        <p:spPr>
          <a:xfrm>
            <a:off x="629841" y="273844"/>
            <a:ext cx="7886700" cy="994172"/>
          </a:xfrm>
        </p:spPr>
        <p:txBody>
          <a:bodyPr/>
          <a:lstStyle/>
          <a:p>
            <a:r>
              <a:rPr lang="en-US"/>
              <a:t>Click to edit Master title style</a:t>
            </a:r>
            <a:endParaRPr lang="fr-FR"/>
          </a:p>
        </p:txBody>
      </p:sp>
      <p:sp>
        <p:nvSpPr>
          <p:cNvPr id="3" name="Text Placeholder 2">
            <a:extLst>
              <a:ext uri="{FF2B5EF4-FFF2-40B4-BE49-F238E27FC236}">
                <a16:creationId xmlns:a16="http://schemas.microsoft.com/office/drawing/2014/main" id="{9FFF309A-D4F4-4371-A783-CB7FA8940CD6}"/>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68B49682-F6FC-4558-ABD5-C75BBA449337}"/>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a:extLst>
              <a:ext uri="{FF2B5EF4-FFF2-40B4-BE49-F238E27FC236}">
                <a16:creationId xmlns:a16="http://schemas.microsoft.com/office/drawing/2014/main" id="{712703E2-F98A-4487-AE6F-F59DFE618519}"/>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4F412643-1671-4647-ABA3-F81A36A4DBAD}"/>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Date Placeholder 6">
            <a:extLst>
              <a:ext uri="{FF2B5EF4-FFF2-40B4-BE49-F238E27FC236}">
                <a16:creationId xmlns:a16="http://schemas.microsoft.com/office/drawing/2014/main" id="{2435AD9F-0992-48F1-BDAE-76DD72A984BB}"/>
              </a:ext>
            </a:extLst>
          </p:cNvPr>
          <p:cNvSpPr>
            <a:spLocks noGrp="1"/>
          </p:cNvSpPr>
          <p:nvPr>
            <p:ph type="dt" sz="half" idx="10"/>
          </p:nvPr>
        </p:nvSpPr>
        <p:spPr/>
        <p:txBody>
          <a:bodyPr/>
          <a:lstStyle/>
          <a:p>
            <a:fld id="{268E239F-B778-4FA6-BD36-20B7F8E7FC2E}" type="datetimeFigureOut">
              <a:rPr lang="fr-FR" smtClean="0"/>
              <a:t>20/05/2026</a:t>
            </a:fld>
            <a:endParaRPr lang="fr-FR"/>
          </a:p>
        </p:txBody>
      </p:sp>
      <p:sp>
        <p:nvSpPr>
          <p:cNvPr id="8" name="Footer Placeholder 7">
            <a:extLst>
              <a:ext uri="{FF2B5EF4-FFF2-40B4-BE49-F238E27FC236}">
                <a16:creationId xmlns:a16="http://schemas.microsoft.com/office/drawing/2014/main" id="{2BBA3C32-C499-4128-91CF-3FC5E645DE9A}"/>
              </a:ext>
            </a:extLst>
          </p:cNvPr>
          <p:cNvSpPr>
            <a:spLocks noGrp="1"/>
          </p:cNvSpPr>
          <p:nvPr>
            <p:ph type="ftr" sz="quarter" idx="11"/>
          </p:nvPr>
        </p:nvSpPr>
        <p:spPr/>
        <p:txBody>
          <a:bodyPr/>
          <a:lstStyle/>
          <a:p>
            <a:endParaRPr lang="fr-FR"/>
          </a:p>
        </p:txBody>
      </p:sp>
      <p:sp>
        <p:nvSpPr>
          <p:cNvPr id="9" name="Slide Number Placeholder 8">
            <a:extLst>
              <a:ext uri="{FF2B5EF4-FFF2-40B4-BE49-F238E27FC236}">
                <a16:creationId xmlns:a16="http://schemas.microsoft.com/office/drawing/2014/main" id="{348E42A7-13CF-456F-8F10-074DB6A1B4A0}"/>
              </a:ext>
            </a:extLst>
          </p:cNvPr>
          <p:cNvSpPr>
            <a:spLocks noGrp="1"/>
          </p:cNvSpPr>
          <p:nvPr>
            <p:ph type="sldNum" sz="quarter" idx="12"/>
          </p:nvPr>
        </p:nvSpPr>
        <p:spPr/>
        <p:txBody>
          <a:bodyPr/>
          <a:lstStyle/>
          <a:p>
            <a:fld id="{EB431C9B-C859-4D8C-870C-65099FB887DA}" type="slidenum">
              <a:rPr lang="fr-FR" smtClean="0"/>
              <a:t>‹#›</a:t>
            </a:fld>
            <a:endParaRPr lang="fr-FR"/>
          </a:p>
        </p:txBody>
      </p:sp>
    </p:spTree>
    <p:extLst>
      <p:ext uri="{BB962C8B-B14F-4D97-AF65-F5344CB8AC3E}">
        <p14:creationId xmlns:p14="http://schemas.microsoft.com/office/powerpoint/2010/main" val="225982350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6B5F5-F724-402A-AFD5-880C881074F8}"/>
              </a:ext>
            </a:extLst>
          </p:cNvPr>
          <p:cNvSpPr>
            <a:spLocks noGrp="1"/>
          </p:cNvSpPr>
          <p:nvPr>
            <p:ph type="title"/>
          </p:nvPr>
        </p:nvSpPr>
        <p:spPr/>
        <p:txBody>
          <a:bodyPr/>
          <a:lstStyle/>
          <a:p>
            <a:r>
              <a:rPr lang="en-US"/>
              <a:t>Click to edit Master title style</a:t>
            </a:r>
            <a:endParaRPr lang="fr-FR"/>
          </a:p>
        </p:txBody>
      </p:sp>
      <p:sp>
        <p:nvSpPr>
          <p:cNvPr id="3" name="Date Placeholder 2">
            <a:extLst>
              <a:ext uri="{FF2B5EF4-FFF2-40B4-BE49-F238E27FC236}">
                <a16:creationId xmlns:a16="http://schemas.microsoft.com/office/drawing/2014/main" id="{456D98BA-B67C-4ABC-9D88-DF638886C135}"/>
              </a:ext>
            </a:extLst>
          </p:cNvPr>
          <p:cNvSpPr>
            <a:spLocks noGrp="1"/>
          </p:cNvSpPr>
          <p:nvPr>
            <p:ph type="dt" sz="half" idx="10"/>
          </p:nvPr>
        </p:nvSpPr>
        <p:spPr/>
        <p:txBody>
          <a:bodyPr/>
          <a:lstStyle/>
          <a:p>
            <a:fld id="{268E239F-B778-4FA6-BD36-20B7F8E7FC2E}" type="datetimeFigureOut">
              <a:rPr lang="fr-FR" smtClean="0"/>
              <a:t>20/05/2026</a:t>
            </a:fld>
            <a:endParaRPr lang="fr-FR"/>
          </a:p>
        </p:txBody>
      </p:sp>
      <p:sp>
        <p:nvSpPr>
          <p:cNvPr id="4" name="Footer Placeholder 3">
            <a:extLst>
              <a:ext uri="{FF2B5EF4-FFF2-40B4-BE49-F238E27FC236}">
                <a16:creationId xmlns:a16="http://schemas.microsoft.com/office/drawing/2014/main" id="{6ED85AD1-63B0-41AF-8F6A-52F32EE5D0BC}"/>
              </a:ext>
            </a:extLst>
          </p:cNvPr>
          <p:cNvSpPr>
            <a:spLocks noGrp="1"/>
          </p:cNvSpPr>
          <p:nvPr>
            <p:ph type="ftr" sz="quarter" idx="11"/>
          </p:nvPr>
        </p:nvSpPr>
        <p:spPr/>
        <p:txBody>
          <a:bodyPr/>
          <a:lstStyle/>
          <a:p>
            <a:endParaRPr lang="fr-FR"/>
          </a:p>
        </p:txBody>
      </p:sp>
      <p:sp>
        <p:nvSpPr>
          <p:cNvPr id="5" name="Slide Number Placeholder 4">
            <a:extLst>
              <a:ext uri="{FF2B5EF4-FFF2-40B4-BE49-F238E27FC236}">
                <a16:creationId xmlns:a16="http://schemas.microsoft.com/office/drawing/2014/main" id="{5AE58F9B-B51E-46FF-8374-7B0BD76140F6}"/>
              </a:ext>
            </a:extLst>
          </p:cNvPr>
          <p:cNvSpPr>
            <a:spLocks noGrp="1"/>
          </p:cNvSpPr>
          <p:nvPr>
            <p:ph type="sldNum" sz="quarter" idx="12"/>
          </p:nvPr>
        </p:nvSpPr>
        <p:spPr/>
        <p:txBody>
          <a:bodyPr/>
          <a:lstStyle/>
          <a:p>
            <a:fld id="{EB431C9B-C859-4D8C-870C-65099FB887DA}" type="slidenum">
              <a:rPr lang="fr-FR" smtClean="0"/>
              <a:t>‹#›</a:t>
            </a:fld>
            <a:endParaRPr lang="fr-FR"/>
          </a:p>
        </p:txBody>
      </p:sp>
    </p:spTree>
    <p:extLst>
      <p:ext uri="{BB962C8B-B14F-4D97-AF65-F5344CB8AC3E}">
        <p14:creationId xmlns:p14="http://schemas.microsoft.com/office/powerpoint/2010/main" val="140086394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6B1A4F-C550-4CED-8A75-0F1D81429E1B}"/>
              </a:ext>
            </a:extLst>
          </p:cNvPr>
          <p:cNvSpPr>
            <a:spLocks noGrp="1"/>
          </p:cNvSpPr>
          <p:nvPr>
            <p:ph type="dt" sz="half" idx="10"/>
          </p:nvPr>
        </p:nvSpPr>
        <p:spPr/>
        <p:txBody>
          <a:bodyPr/>
          <a:lstStyle/>
          <a:p>
            <a:fld id="{268E239F-B778-4FA6-BD36-20B7F8E7FC2E}" type="datetimeFigureOut">
              <a:rPr lang="fr-FR" smtClean="0"/>
              <a:t>20/05/2026</a:t>
            </a:fld>
            <a:endParaRPr lang="fr-FR"/>
          </a:p>
        </p:txBody>
      </p:sp>
      <p:sp>
        <p:nvSpPr>
          <p:cNvPr id="3" name="Footer Placeholder 2">
            <a:extLst>
              <a:ext uri="{FF2B5EF4-FFF2-40B4-BE49-F238E27FC236}">
                <a16:creationId xmlns:a16="http://schemas.microsoft.com/office/drawing/2014/main" id="{9C520101-9F81-492A-A824-0E6E6EBC0992}"/>
              </a:ext>
            </a:extLst>
          </p:cNvPr>
          <p:cNvSpPr>
            <a:spLocks noGrp="1"/>
          </p:cNvSpPr>
          <p:nvPr>
            <p:ph type="ftr" sz="quarter" idx="11"/>
          </p:nvPr>
        </p:nvSpPr>
        <p:spPr/>
        <p:txBody>
          <a:bodyPr/>
          <a:lstStyle/>
          <a:p>
            <a:endParaRPr lang="fr-FR"/>
          </a:p>
        </p:txBody>
      </p:sp>
      <p:sp>
        <p:nvSpPr>
          <p:cNvPr id="4" name="Slide Number Placeholder 3">
            <a:extLst>
              <a:ext uri="{FF2B5EF4-FFF2-40B4-BE49-F238E27FC236}">
                <a16:creationId xmlns:a16="http://schemas.microsoft.com/office/drawing/2014/main" id="{D20A8945-26B0-42FF-8403-C94734AD2C83}"/>
              </a:ext>
            </a:extLst>
          </p:cNvPr>
          <p:cNvSpPr>
            <a:spLocks noGrp="1"/>
          </p:cNvSpPr>
          <p:nvPr>
            <p:ph type="sldNum" sz="quarter" idx="12"/>
          </p:nvPr>
        </p:nvSpPr>
        <p:spPr/>
        <p:txBody>
          <a:bodyPr/>
          <a:lstStyle/>
          <a:p>
            <a:fld id="{EB431C9B-C859-4D8C-870C-65099FB887DA}" type="slidenum">
              <a:rPr lang="fr-FR" smtClean="0"/>
              <a:t>‹#›</a:t>
            </a:fld>
            <a:endParaRPr lang="fr-FR"/>
          </a:p>
        </p:txBody>
      </p:sp>
    </p:spTree>
    <p:extLst>
      <p:ext uri="{BB962C8B-B14F-4D97-AF65-F5344CB8AC3E}">
        <p14:creationId xmlns:p14="http://schemas.microsoft.com/office/powerpoint/2010/main" val="161492136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2F83D-87C8-4164-92B8-838F749F1DC2}"/>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fr-FR"/>
          </a:p>
        </p:txBody>
      </p:sp>
      <p:sp>
        <p:nvSpPr>
          <p:cNvPr id="3" name="Content Placeholder 2">
            <a:extLst>
              <a:ext uri="{FF2B5EF4-FFF2-40B4-BE49-F238E27FC236}">
                <a16:creationId xmlns:a16="http://schemas.microsoft.com/office/drawing/2014/main" id="{1EEE96D7-A43E-4516-AD92-C6308EE145CE}"/>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a:extLst>
              <a:ext uri="{FF2B5EF4-FFF2-40B4-BE49-F238E27FC236}">
                <a16:creationId xmlns:a16="http://schemas.microsoft.com/office/drawing/2014/main" id="{109424D1-975F-4408-AF37-A4AFA1302653}"/>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044E80CD-A033-4E16-B409-9B78A4125625}"/>
              </a:ext>
            </a:extLst>
          </p:cNvPr>
          <p:cNvSpPr>
            <a:spLocks noGrp="1"/>
          </p:cNvSpPr>
          <p:nvPr>
            <p:ph type="dt" sz="half" idx="10"/>
          </p:nvPr>
        </p:nvSpPr>
        <p:spPr/>
        <p:txBody>
          <a:bodyPr/>
          <a:lstStyle/>
          <a:p>
            <a:fld id="{268E239F-B778-4FA6-BD36-20B7F8E7FC2E}" type="datetimeFigureOut">
              <a:rPr lang="fr-FR" smtClean="0"/>
              <a:t>20/05/2026</a:t>
            </a:fld>
            <a:endParaRPr lang="fr-FR"/>
          </a:p>
        </p:txBody>
      </p:sp>
      <p:sp>
        <p:nvSpPr>
          <p:cNvPr id="6" name="Footer Placeholder 5">
            <a:extLst>
              <a:ext uri="{FF2B5EF4-FFF2-40B4-BE49-F238E27FC236}">
                <a16:creationId xmlns:a16="http://schemas.microsoft.com/office/drawing/2014/main" id="{15DDB167-1FCE-4924-9FB2-CF52E7BE9ED2}"/>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AA31DBEF-264A-4A04-91C1-C7259680CF2F}"/>
              </a:ext>
            </a:extLst>
          </p:cNvPr>
          <p:cNvSpPr>
            <a:spLocks noGrp="1"/>
          </p:cNvSpPr>
          <p:nvPr>
            <p:ph type="sldNum" sz="quarter" idx="12"/>
          </p:nvPr>
        </p:nvSpPr>
        <p:spPr/>
        <p:txBody>
          <a:bodyPr/>
          <a:lstStyle/>
          <a:p>
            <a:fld id="{EB431C9B-C859-4D8C-870C-65099FB887DA}" type="slidenum">
              <a:rPr lang="fr-FR" smtClean="0"/>
              <a:t>‹#›</a:t>
            </a:fld>
            <a:endParaRPr lang="fr-FR"/>
          </a:p>
        </p:txBody>
      </p:sp>
    </p:spTree>
    <p:extLst>
      <p:ext uri="{BB962C8B-B14F-4D97-AF65-F5344CB8AC3E}">
        <p14:creationId xmlns:p14="http://schemas.microsoft.com/office/powerpoint/2010/main" val="401321913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E7AD2-ACB0-4BDC-B1F8-48608A80D785}"/>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fr-FR"/>
          </a:p>
        </p:txBody>
      </p:sp>
      <p:sp>
        <p:nvSpPr>
          <p:cNvPr id="3" name="Picture Placeholder 2">
            <a:extLst>
              <a:ext uri="{FF2B5EF4-FFF2-40B4-BE49-F238E27FC236}">
                <a16:creationId xmlns:a16="http://schemas.microsoft.com/office/drawing/2014/main" id="{2355FEF7-7033-4821-8B2F-3BB655AEA179}"/>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fr-FR"/>
          </a:p>
        </p:txBody>
      </p:sp>
      <p:sp>
        <p:nvSpPr>
          <p:cNvPr id="4" name="Text Placeholder 3">
            <a:extLst>
              <a:ext uri="{FF2B5EF4-FFF2-40B4-BE49-F238E27FC236}">
                <a16:creationId xmlns:a16="http://schemas.microsoft.com/office/drawing/2014/main" id="{17ED1547-CF63-428D-860A-2884DD4A9C17}"/>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5ED9DB3-8013-4159-843F-28AEB3FA862B}"/>
              </a:ext>
            </a:extLst>
          </p:cNvPr>
          <p:cNvSpPr>
            <a:spLocks noGrp="1"/>
          </p:cNvSpPr>
          <p:nvPr>
            <p:ph type="dt" sz="half" idx="10"/>
          </p:nvPr>
        </p:nvSpPr>
        <p:spPr/>
        <p:txBody>
          <a:bodyPr/>
          <a:lstStyle/>
          <a:p>
            <a:fld id="{268E239F-B778-4FA6-BD36-20B7F8E7FC2E}" type="datetimeFigureOut">
              <a:rPr lang="fr-FR" smtClean="0"/>
              <a:t>20/05/2026</a:t>
            </a:fld>
            <a:endParaRPr lang="fr-FR"/>
          </a:p>
        </p:txBody>
      </p:sp>
      <p:sp>
        <p:nvSpPr>
          <p:cNvPr id="6" name="Footer Placeholder 5">
            <a:extLst>
              <a:ext uri="{FF2B5EF4-FFF2-40B4-BE49-F238E27FC236}">
                <a16:creationId xmlns:a16="http://schemas.microsoft.com/office/drawing/2014/main" id="{5CEA8518-4DE9-4CF7-965A-767DA583A3EF}"/>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423455D8-05F3-4ECA-A0D0-AC61D2C2B0FE}"/>
              </a:ext>
            </a:extLst>
          </p:cNvPr>
          <p:cNvSpPr>
            <a:spLocks noGrp="1"/>
          </p:cNvSpPr>
          <p:nvPr>
            <p:ph type="sldNum" sz="quarter" idx="12"/>
          </p:nvPr>
        </p:nvSpPr>
        <p:spPr/>
        <p:txBody>
          <a:bodyPr/>
          <a:lstStyle/>
          <a:p>
            <a:fld id="{EB431C9B-C859-4D8C-870C-65099FB887DA}" type="slidenum">
              <a:rPr lang="fr-FR" smtClean="0"/>
              <a:t>‹#›</a:t>
            </a:fld>
            <a:endParaRPr lang="fr-FR"/>
          </a:p>
        </p:txBody>
      </p:sp>
    </p:spTree>
    <p:extLst>
      <p:ext uri="{BB962C8B-B14F-4D97-AF65-F5344CB8AC3E}">
        <p14:creationId xmlns:p14="http://schemas.microsoft.com/office/powerpoint/2010/main" val="81386637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D9679-99D6-481C-B63E-7D78994C7682}"/>
              </a:ext>
            </a:extLst>
          </p:cNvPr>
          <p:cNvSpPr>
            <a:spLocks noGrp="1"/>
          </p:cNvSpPr>
          <p:nvPr>
            <p:ph type="title"/>
          </p:nvPr>
        </p:nvSpPr>
        <p:spPr/>
        <p:txBody>
          <a:bodyPr/>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DCF8E7A3-D0A6-4A41-A985-5775F953D2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5CAE4B83-213E-44CF-878E-2D2D964CBAB3}"/>
              </a:ext>
            </a:extLst>
          </p:cNvPr>
          <p:cNvSpPr>
            <a:spLocks noGrp="1"/>
          </p:cNvSpPr>
          <p:nvPr>
            <p:ph type="dt" sz="half" idx="10"/>
          </p:nvPr>
        </p:nvSpPr>
        <p:spPr/>
        <p:txBody>
          <a:bodyPr/>
          <a:lstStyle/>
          <a:p>
            <a:fld id="{268E239F-B778-4FA6-BD36-20B7F8E7FC2E}" type="datetimeFigureOut">
              <a:rPr lang="fr-FR" smtClean="0"/>
              <a:t>20/05/2026</a:t>
            </a:fld>
            <a:endParaRPr lang="fr-FR"/>
          </a:p>
        </p:txBody>
      </p:sp>
      <p:sp>
        <p:nvSpPr>
          <p:cNvPr id="5" name="Footer Placeholder 4">
            <a:extLst>
              <a:ext uri="{FF2B5EF4-FFF2-40B4-BE49-F238E27FC236}">
                <a16:creationId xmlns:a16="http://schemas.microsoft.com/office/drawing/2014/main" id="{730BAE1F-89E5-4AA2-A26B-C8B537A8243E}"/>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1D796354-BB60-4C6A-8A04-BC6ECC1105F9}"/>
              </a:ext>
            </a:extLst>
          </p:cNvPr>
          <p:cNvSpPr>
            <a:spLocks noGrp="1"/>
          </p:cNvSpPr>
          <p:nvPr>
            <p:ph type="sldNum" sz="quarter" idx="12"/>
          </p:nvPr>
        </p:nvSpPr>
        <p:spPr/>
        <p:txBody>
          <a:bodyPr/>
          <a:lstStyle/>
          <a:p>
            <a:fld id="{EB431C9B-C859-4D8C-870C-65099FB887DA}" type="slidenum">
              <a:rPr lang="fr-FR" smtClean="0"/>
              <a:t>‹#›</a:t>
            </a:fld>
            <a:endParaRPr lang="fr-FR"/>
          </a:p>
        </p:txBody>
      </p:sp>
    </p:spTree>
    <p:extLst>
      <p:ext uri="{BB962C8B-B14F-4D97-AF65-F5344CB8AC3E}">
        <p14:creationId xmlns:p14="http://schemas.microsoft.com/office/powerpoint/2010/main" val="46413878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514D87-356E-4D88-A6CD-55A162DCBBD0}"/>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6242A0EB-7DB5-418F-AB7A-8350E919F2C2}"/>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01D85EFC-CFB9-41EB-8667-7187022919F0}"/>
              </a:ext>
            </a:extLst>
          </p:cNvPr>
          <p:cNvSpPr>
            <a:spLocks noGrp="1"/>
          </p:cNvSpPr>
          <p:nvPr>
            <p:ph type="dt" sz="half" idx="10"/>
          </p:nvPr>
        </p:nvSpPr>
        <p:spPr/>
        <p:txBody>
          <a:bodyPr/>
          <a:lstStyle/>
          <a:p>
            <a:fld id="{268E239F-B778-4FA6-BD36-20B7F8E7FC2E}" type="datetimeFigureOut">
              <a:rPr lang="fr-FR" smtClean="0"/>
              <a:t>20/05/2026</a:t>
            </a:fld>
            <a:endParaRPr lang="fr-FR"/>
          </a:p>
        </p:txBody>
      </p:sp>
      <p:sp>
        <p:nvSpPr>
          <p:cNvPr id="5" name="Footer Placeholder 4">
            <a:extLst>
              <a:ext uri="{FF2B5EF4-FFF2-40B4-BE49-F238E27FC236}">
                <a16:creationId xmlns:a16="http://schemas.microsoft.com/office/drawing/2014/main" id="{15198AC4-2B92-4BF3-8604-04BBEFA5D5CB}"/>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C91AF120-2E7A-4794-9B45-D6AF729475D7}"/>
              </a:ext>
            </a:extLst>
          </p:cNvPr>
          <p:cNvSpPr>
            <a:spLocks noGrp="1"/>
          </p:cNvSpPr>
          <p:nvPr>
            <p:ph type="sldNum" sz="quarter" idx="12"/>
          </p:nvPr>
        </p:nvSpPr>
        <p:spPr/>
        <p:txBody>
          <a:bodyPr/>
          <a:lstStyle/>
          <a:p>
            <a:fld id="{EB431C9B-C859-4D8C-870C-65099FB887DA}" type="slidenum">
              <a:rPr lang="fr-FR" smtClean="0"/>
              <a:t>‹#›</a:t>
            </a:fld>
            <a:endParaRPr lang="fr-FR"/>
          </a:p>
        </p:txBody>
      </p:sp>
    </p:spTree>
    <p:extLst>
      <p:ext uri="{BB962C8B-B14F-4D97-AF65-F5344CB8AC3E}">
        <p14:creationId xmlns:p14="http://schemas.microsoft.com/office/powerpoint/2010/main" val="258080910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0249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B50501-25F2-4443-BB3C-DCE63126D585}"/>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fr-FR"/>
          </a:p>
        </p:txBody>
      </p:sp>
      <p:sp>
        <p:nvSpPr>
          <p:cNvPr id="3" name="Text Placeholder 2">
            <a:extLst>
              <a:ext uri="{FF2B5EF4-FFF2-40B4-BE49-F238E27FC236}">
                <a16:creationId xmlns:a16="http://schemas.microsoft.com/office/drawing/2014/main" id="{02822D8A-13B9-48D5-91D7-BFD25147E8F7}"/>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A6AB4CEC-4B3C-4804-87EB-8D9CE473D1B6}"/>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68E239F-B778-4FA6-BD36-20B7F8E7FC2E}" type="datetimeFigureOut">
              <a:rPr lang="fr-FR" smtClean="0"/>
              <a:t>20/05/2026</a:t>
            </a:fld>
            <a:endParaRPr lang="fr-FR"/>
          </a:p>
        </p:txBody>
      </p:sp>
      <p:sp>
        <p:nvSpPr>
          <p:cNvPr id="5" name="Footer Placeholder 4">
            <a:extLst>
              <a:ext uri="{FF2B5EF4-FFF2-40B4-BE49-F238E27FC236}">
                <a16:creationId xmlns:a16="http://schemas.microsoft.com/office/drawing/2014/main" id="{79FEACCE-A65E-4B83-95F1-5D2DC2B2682D}"/>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fr-FR"/>
          </a:p>
        </p:txBody>
      </p:sp>
      <p:sp>
        <p:nvSpPr>
          <p:cNvPr id="6" name="Slide Number Placeholder 5">
            <a:extLst>
              <a:ext uri="{FF2B5EF4-FFF2-40B4-BE49-F238E27FC236}">
                <a16:creationId xmlns:a16="http://schemas.microsoft.com/office/drawing/2014/main" id="{00902227-228E-4041-9913-4FF90715D94A}"/>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EB431C9B-C859-4D8C-870C-65099FB887DA}" type="slidenum">
              <a:rPr lang="fr-FR" smtClean="0"/>
              <a:t>‹#›</a:t>
            </a:fld>
            <a:endParaRPr lang="fr-FR"/>
          </a:p>
        </p:txBody>
      </p:sp>
    </p:spTree>
    <p:extLst>
      <p:ext uri="{BB962C8B-B14F-4D97-AF65-F5344CB8AC3E}">
        <p14:creationId xmlns:p14="http://schemas.microsoft.com/office/powerpoint/2010/main" val="207053750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7" name="Text 5"/>
          <p:cNvSpPr/>
          <p:nvPr/>
        </p:nvSpPr>
        <p:spPr>
          <a:xfrm>
            <a:off x="731520" y="1572768"/>
            <a:ext cx="6858000" cy="2011680"/>
          </a:xfrm>
          <a:prstGeom prst="rect">
            <a:avLst/>
          </a:prstGeom>
          <a:noFill/>
          <a:ln/>
        </p:spPr>
        <p:txBody>
          <a:bodyPr wrap="square" rtlCol="0" anchor="ctr"/>
          <a:lstStyle/>
          <a:p>
            <a:pPr marL="0" indent="0" algn="l">
              <a:buNone/>
            </a:pPr>
            <a:r>
              <a:rPr lang="en-US" sz="5200" b="1" dirty="0">
                <a:solidFill>
                  <a:srgbClr val="FFFFFF"/>
                </a:solidFill>
                <a:latin typeface="Calibri" pitchFamily="34" charset="0"/>
                <a:ea typeface="Calibri" pitchFamily="34" charset="-122"/>
                <a:cs typeface="Calibri" pitchFamily="34" charset="-120"/>
              </a:rPr>
              <a:t>Dataset &amp;</a:t>
            </a:r>
            <a:endParaRPr lang="en-US" sz="5200" dirty="0"/>
          </a:p>
          <a:p>
            <a:pPr marL="0" indent="0" algn="l">
              <a:buNone/>
            </a:pPr>
            <a:r>
              <a:rPr lang="en-US" sz="5200" b="1" dirty="0">
                <a:solidFill>
                  <a:srgbClr val="FFFFFF"/>
                </a:solidFill>
                <a:latin typeface="Calibri" pitchFamily="34" charset="0"/>
                <a:ea typeface="Calibri" pitchFamily="34" charset="-122"/>
                <a:cs typeface="Calibri" pitchFamily="34" charset="-120"/>
              </a:rPr>
              <a:t>Preprocessing</a:t>
            </a:r>
            <a:endParaRPr lang="en-US" sz="5200" dirty="0"/>
          </a:p>
        </p:txBody>
      </p:sp>
      <p:sp>
        <p:nvSpPr>
          <p:cNvPr id="8" name="Text 6"/>
          <p:cNvSpPr/>
          <p:nvPr/>
        </p:nvSpPr>
        <p:spPr>
          <a:xfrm>
            <a:off x="731520" y="3703320"/>
            <a:ext cx="6858000" cy="457200"/>
          </a:xfrm>
          <a:prstGeom prst="rect">
            <a:avLst/>
          </a:prstGeom>
          <a:noFill/>
          <a:ln/>
        </p:spPr>
        <p:txBody>
          <a:bodyPr wrap="square" rtlCol="0" anchor="ctr"/>
          <a:lstStyle/>
          <a:p>
            <a:pPr marL="0" indent="0" algn="l">
              <a:buNone/>
            </a:pPr>
            <a:r>
              <a:rPr lang="en-US" sz="1400" dirty="0">
                <a:solidFill>
                  <a:srgbClr val="64748B"/>
                </a:solidFill>
                <a:latin typeface="Calibri" pitchFamily="34" charset="0"/>
                <a:ea typeface="Calibri" pitchFamily="34" charset="-122"/>
                <a:cs typeface="Calibri" pitchFamily="34" charset="-120"/>
              </a:rPr>
              <a:t>Feature validation through molecular descriptor analysis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marL="0" indent="0" algn="l">
              <a:buNone/>
            </a:pPr>
            <a:r>
              <a:rPr lang="en-US" sz="2600" b="1" dirty="0">
                <a:solidFill>
                  <a:schemeClr val="tx2">
                    <a:lumMod val="75000"/>
                  </a:schemeClr>
                </a:solidFill>
                <a:latin typeface="Bodoni MT" panose="02070603080606020203" pitchFamily="18" charset="0"/>
                <a:ea typeface="Calibri" pitchFamily="34" charset="-122"/>
                <a:cs typeface="Calibri" pitchFamily="34" charset="-120"/>
              </a:rPr>
              <a:t>2.1  Dataset Overview</a:t>
            </a:r>
            <a:endParaRPr lang="en-US" sz="2600" dirty="0">
              <a:solidFill>
                <a:schemeClr val="tx2">
                  <a:lumMod val="75000"/>
                </a:schemeClr>
              </a:solidFill>
              <a:latin typeface="Bodoni MT" panose="02070603080606020203" pitchFamily="18" charset="0"/>
            </a:endParaRPr>
          </a:p>
        </p:txBody>
      </p:sp>
      <p:sp>
        <p:nvSpPr>
          <p:cNvPr id="3" name="Shape 1"/>
          <p:cNvSpPr/>
          <p:nvPr/>
        </p:nvSpPr>
        <p:spPr>
          <a:xfrm>
            <a:off x="457200" y="914400"/>
            <a:ext cx="3749040" cy="868680"/>
          </a:xfrm>
          <a:prstGeom prst="rect">
            <a:avLst/>
          </a:prstGeom>
          <a:noFill/>
          <a:ln w="12700">
            <a:solidFill>
              <a:schemeClr val="tx1"/>
            </a:solidFill>
            <a:prstDash val="solid"/>
          </a:ln>
        </p:spPr>
        <p:txBody>
          <a:bodyPr/>
          <a:lstStyle/>
          <a:p>
            <a:endParaRPr lang="fr-FR" dirty="0"/>
          </a:p>
        </p:txBody>
      </p:sp>
      <p:sp>
        <p:nvSpPr>
          <p:cNvPr id="4" name="Text 2"/>
          <p:cNvSpPr/>
          <p:nvPr/>
        </p:nvSpPr>
        <p:spPr>
          <a:xfrm>
            <a:off x="594360" y="987552"/>
            <a:ext cx="914400" cy="256032"/>
          </a:xfrm>
          <a:prstGeom prst="rect">
            <a:avLst/>
          </a:prstGeom>
          <a:noFill/>
          <a:ln/>
        </p:spPr>
        <p:txBody>
          <a:bodyPr wrap="square" lIns="0" tIns="0" rIns="0" bIns="0" rtlCol="0" anchor="ctr"/>
          <a:lstStyle/>
          <a:p>
            <a:pPr marL="0" indent="0">
              <a:buNone/>
            </a:pPr>
            <a:r>
              <a:rPr lang="en-US" sz="2000" b="1" dirty="0">
                <a:solidFill>
                  <a:schemeClr val="accent1">
                    <a:lumMod val="50000"/>
                  </a:schemeClr>
                </a:solidFill>
                <a:latin typeface="Bodoni MT" panose="02070603080606020203" pitchFamily="18" charset="0"/>
              </a:rPr>
              <a:t>Source</a:t>
            </a:r>
            <a:endParaRPr lang="en-US" sz="1600" dirty="0">
              <a:solidFill>
                <a:schemeClr val="accent1">
                  <a:lumMod val="50000"/>
                </a:schemeClr>
              </a:solidFill>
              <a:latin typeface="Bodoni MT" panose="02070603080606020203" pitchFamily="18" charset="0"/>
            </a:endParaRPr>
          </a:p>
        </p:txBody>
      </p:sp>
      <p:sp>
        <p:nvSpPr>
          <p:cNvPr id="5" name="Text 3"/>
          <p:cNvSpPr/>
          <p:nvPr/>
        </p:nvSpPr>
        <p:spPr>
          <a:xfrm>
            <a:off x="594360" y="1261872"/>
            <a:ext cx="3474720" cy="411480"/>
          </a:xfrm>
          <a:prstGeom prst="rect">
            <a:avLst/>
          </a:prstGeom>
          <a:noFill/>
          <a:ln/>
        </p:spPr>
        <p:txBody>
          <a:bodyPr wrap="square" lIns="0" tIns="0" rIns="0" bIns="0" rtlCol="0" anchor="ctr"/>
          <a:lstStyle/>
          <a:p>
            <a:pPr marL="0" indent="0">
              <a:buNone/>
            </a:pPr>
            <a:r>
              <a:rPr lang="en-US" sz="1250" b="1" dirty="0">
                <a:solidFill>
                  <a:srgbClr val="0F172A"/>
                </a:solidFill>
                <a:latin typeface="Calibri" pitchFamily="34" charset="0"/>
                <a:ea typeface="Calibri" pitchFamily="34" charset="-122"/>
                <a:cs typeface="Calibri" pitchFamily="34" charset="-120"/>
              </a:rPr>
              <a:t>GoodScents</a:t>
            </a:r>
            <a:r>
              <a:rPr lang="en-US" sz="1250" dirty="0">
                <a:solidFill>
                  <a:srgbClr val="64748B"/>
                </a:solidFill>
                <a:latin typeface="Calibri" pitchFamily="34" charset="0"/>
                <a:ea typeface="Calibri" pitchFamily="34" charset="-122"/>
                <a:cs typeface="Calibri" pitchFamily="34" charset="-120"/>
              </a:rPr>
              <a:t>  +  </a:t>
            </a:r>
            <a:r>
              <a:rPr lang="en-US" sz="1250" b="1" dirty="0">
                <a:solidFill>
                  <a:srgbClr val="0F172A"/>
                </a:solidFill>
                <a:latin typeface="Calibri" pitchFamily="34" charset="0"/>
                <a:ea typeface="Calibri" pitchFamily="34" charset="-122"/>
                <a:cs typeface="Calibri" pitchFamily="34" charset="-120"/>
              </a:rPr>
              <a:t>Leffingwell PMP 2001</a:t>
            </a:r>
            <a:endParaRPr lang="en-US" sz="1250" dirty="0"/>
          </a:p>
        </p:txBody>
      </p:sp>
      <p:sp>
        <p:nvSpPr>
          <p:cNvPr id="6" name="Shape 4"/>
          <p:cNvSpPr/>
          <p:nvPr/>
        </p:nvSpPr>
        <p:spPr>
          <a:xfrm>
            <a:off x="457200" y="1920240"/>
            <a:ext cx="1783080" cy="1280160"/>
          </a:xfrm>
          <a:prstGeom prst="rect">
            <a:avLst/>
          </a:prstGeom>
          <a:solidFill>
            <a:schemeClr val="tx2">
              <a:lumMod val="75000"/>
            </a:schemeClr>
          </a:solidFill>
          <a:ln w="12700">
            <a:solidFill>
              <a:srgbClr val="0284C7"/>
            </a:solidFill>
            <a:prstDash val="solid"/>
          </a:ln>
        </p:spPr>
        <p:txBody>
          <a:bodyPr/>
          <a:lstStyle/>
          <a:p>
            <a:endParaRPr lang="fr-FR" dirty="0"/>
          </a:p>
        </p:txBody>
      </p:sp>
      <p:sp>
        <p:nvSpPr>
          <p:cNvPr id="7" name="Text 5"/>
          <p:cNvSpPr/>
          <p:nvPr/>
        </p:nvSpPr>
        <p:spPr>
          <a:xfrm>
            <a:off x="457200" y="1993392"/>
            <a:ext cx="1783080" cy="749808"/>
          </a:xfrm>
          <a:prstGeom prst="rect">
            <a:avLst/>
          </a:prstGeom>
          <a:noFill/>
          <a:ln/>
        </p:spPr>
        <p:txBody>
          <a:bodyPr wrap="square" lIns="0" tIns="0" rIns="0" bIns="0" rtlCol="0" anchor="ctr"/>
          <a:lstStyle/>
          <a:p>
            <a:pPr marL="0" indent="0" algn="ctr">
              <a:buNone/>
            </a:pPr>
            <a:r>
              <a:rPr lang="en-US" sz="4000" b="1" dirty="0">
                <a:solidFill>
                  <a:srgbClr val="FFFFFF"/>
                </a:solidFill>
              </a:rPr>
              <a:t>4,983</a:t>
            </a:r>
            <a:endParaRPr lang="en-US" sz="4000" dirty="0"/>
          </a:p>
        </p:txBody>
      </p:sp>
      <p:sp>
        <p:nvSpPr>
          <p:cNvPr id="8" name="Text 6"/>
          <p:cNvSpPr/>
          <p:nvPr/>
        </p:nvSpPr>
        <p:spPr>
          <a:xfrm>
            <a:off x="457200" y="2697480"/>
            <a:ext cx="1783080" cy="384048"/>
          </a:xfrm>
          <a:prstGeom prst="rect">
            <a:avLst/>
          </a:prstGeom>
          <a:noFill/>
          <a:ln/>
        </p:spPr>
        <p:txBody>
          <a:bodyPr wrap="square" lIns="0" tIns="0" rIns="0" bIns="0" rtlCol="0" anchor="ctr"/>
          <a:lstStyle/>
          <a:p>
            <a:pPr marL="0" indent="0" algn="ctr">
              <a:buNone/>
            </a:pPr>
            <a:r>
              <a:rPr lang="en-US" sz="1200" dirty="0">
                <a:solidFill>
                  <a:srgbClr val="BAE6FD"/>
                </a:solidFill>
              </a:rPr>
              <a:t>molecules</a:t>
            </a:r>
            <a:endParaRPr lang="en-US" sz="1200" dirty="0"/>
          </a:p>
        </p:txBody>
      </p:sp>
      <p:sp>
        <p:nvSpPr>
          <p:cNvPr id="9" name="Shape 7"/>
          <p:cNvSpPr/>
          <p:nvPr/>
        </p:nvSpPr>
        <p:spPr>
          <a:xfrm>
            <a:off x="2423160" y="1920240"/>
            <a:ext cx="1783080" cy="1280160"/>
          </a:xfrm>
          <a:prstGeom prst="rect">
            <a:avLst/>
          </a:prstGeom>
          <a:solidFill>
            <a:schemeClr val="tx2">
              <a:lumMod val="75000"/>
            </a:schemeClr>
          </a:solidFill>
          <a:ln w="12700">
            <a:solidFill>
              <a:srgbClr val="1E3A5F"/>
            </a:solidFill>
            <a:prstDash val="solid"/>
          </a:ln>
        </p:spPr>
      </p:sp>
      <p:sp>
        <p:nvSpPr>
          <p:cNvPr id="10" name="Text 8"/>
          <p:cNvSpPr/>
          <p:nvPr/>
        </p:nvSpPr>
        <p:spPr>
          <a:xfrm>
            <a:off x="2423160" y="1993392"/>
            <a:ext cx="1783080" cy="749808"/>
          </a:xfrm>
          <a:prstGeom prst="rect">
            <a:avLst/>
          </a:prstGeom>
          <a:noFill/>
          <a:ln/>
        </p:spPr>
        <p:txBody>
          <a:bodyPr wrap="square" lIns="0" tIns="0" rIns="0" bIns="0" rtlCol="0" anchor="ctr"/>
          <a:lstStyle/>
          <a:p>
            <a:pPr marL="0" indent="0" algn="ctr">
              <a:buNone/>
            </a:pPr>
            <a:r>
              <a:rPr lang="en-US" sz="4000" b="1" dirty="0">
                <a:solidFill>
                  <a:srgbClr val="FFFFFF"/>
                </a:solidFill>
              </a:rPr>
              <a:t>138</a:t>
            </a:r>
            <a:endParaRPr lang="en-US" sz="4000" dirty="0"/>
          </a:p>
        </p:txBody>
      </p:sp>
      <p:sp>
        <p:nvSpPr>
          <p:cNvPr id="11" name="Text 9"/>
          <p:cNvSpPr/>
          <p:nvPr/>
        </p:nvSpPr>
        <p:spPr>
          <a:xfrm>
            <a:off x="2423160" y="2697480"/>
            <a:ext cx="1783080" cy="384048"/>
          </a:xfrm>
          <a:prstGeom prst="rect">
            <a:avLst/>
          </a:prstGeom>
          <a:noFill/>
          <a:ln/>
        </p:spPr>
        <p:txBody>
          <a:bodyPr wrap="square" lIns="0" tIns="0" rIns="0" bIns="0" rtlCol="0" anchor="ctr"/>
          <a:lstStyle/>
          <a:p>
            <a:pPr marL="0" indent="0" algn="ctr">
              <a:buNone/>
            </a:pPr>
            <a:r>
              <a:rPr lang="en-US" sz="1100" dirty="0">
                <a:solidFill>
                  <a:srgbClr val="BFDBFE"/>
                </a:solidFill>
              </a:rPr>
              <a:t>odor descriptors</a:t>
            </a:r>
            <a:endParaRPr lang="en-US" sz="1100" dirty="0"/>
          </a:p>
        </p:txBody>
      </p:sp>
      <p:sp>
        <p:nvSpPr>
          <p:cNvPr id="12" name="Text 10"/>
          <p:cNvSpPr/>
          <p:nvPr/>
        </p:nvSpPr>
        <p:spPr>
          <a:xfrm>
            <a:off x="457200" y="3319272"/>
            <a:ext cx="3749040" cy="347472"/>
          </a:xfrm>
          <a:prstGeom prst="rect">
            <a:avLst/>
          </a:prstGeom>
          <a:noFill/>
          <a:ln/>
        </p:spPr>
        <p:txBody>
          <a:bodyPr wrap="square" lIns="0" tIns="0" rIns="0" bIns="0" rtlCol="0" anchor="ctr"/>
          <a:lstStyle/>
          <a:p>
            <a:pPr marL="0" indent="0">
              <a:buNone/>
            </a:pPr>
            <a:r>
              <a:rPr lang="en-US" sz="1000" i="1" dirty="0">
                <a:solidFill>
                  <a:srgbClr val="64748B"/>
                </a:solidFill>
              </a:rPr>
              <a:t>Labels assigned by trained perfumers &amp; flavor chemists</a:t>
            </a:r>
            <a:endParaRPr lang="en-US" sz="1000" dirty="0"/>
          </a:p>
        </p:txBody>
      </p:sp>
      <p:sp>
        <p:nvSpPr>
          <p:cNvPr id="13" name="Shape 11"/>
          <p:cNvSpPr/>
          <p:nvPr/>
        </p:nvSpPr>
        <p:spPr>
          <a:xfrm>
            <a:off x="4572000" y="914400"/>
            <a:ext cx="1828800" cy="777240"/>
          </a:xfrm>
          <a:prstGeom prst="rect">
            <a:avLst/>
          </a:prstGeom>
          <a:solidFill>
            <a:srgbClr val="1E3A5F"/>
          </a:solidFill>
          <a:ln w="12700">
            <a:solidFill>
              <a:srgbClr val="1E3A5F"/>
            </a:solidFill>
            <a:prstDash val="solid"/>
          </a:ln>
        </p:spPr>
      </p:sp>
      <p:sp>
        <p:nvSpPr>
          <p:cNvPr id="14" name="Text 12"/>
          <p:cNvSpPr/>
          <p:nvPr/>
        </p:nvSpPr>
        <p:spPr>
          <a:xfrm>
            <a:off x="4572000" y="932688"/>
            <a:ext cx="1828800" cy="457200"/>
          </a:xfrm>
          <a:prstGeom prst="rect">
            <a:avLst/>
          </a:prstGeom>
          <a:noFill/>
          <a:ln/>
        </p:spPr>
        <p:txBody>
          <a:bodyPr wrap="square" lIns="0" tIns="0" rIns="0" bIns="0" rtlCol="0" anchor="ctr"/>
          <a:lstStyle/>
          <a:p>
            <a:pPr marL="0" indent="0" algn="ctr">
              <a:buNone/>
            </a:pPr>
            <a:r>
              <a:rPr lang="en-US" sz="3000" b="1" dirty="0">
                <a:solidFill>
                  <a:srgbClr val="FFFFFF"/>
                </a:solidFill>
              </a:rPr>
              <a:t>138</a:t>
            </a:r>
            <a:endParaRPr lang="en-US" sz="3000" dirty="0"/>
          </a:p>
        </p:txBody>
      </p:sp>
      <p:sp>
        <p:nvSpPr>
          <p:cNvPr id="15" name="Text 13"/>
          <p:cNvSpPr/>
          <p:nvPr/>
        </p:nvSpPr>
        <p:spPr>
          <a:xfrm>
            <a:off x="4572000" y="1389888"/>
            <a:ext cx="1828800" cy="256032"/>
          </a:xfrm>
          <a:prstGeom prst="rect">
            <a:avLst/>
          </a:prstGeom>
          <a:noFill/>
          <a:ln/>
        </p:spPr>
        <p:txBody>
          <a:bodyPr wrap="square" lIns="0" tIns="0" rIns="0" bIns="0" rtlCol="0" anchor="ctr"/>
          <a:lstStyle/>
          <a:p>
            <a:pPr marL="0" indent="0" algn="ctr">
              <a:buNone/>
            </a:pPr>
            <a:r>
              <a:rPr lang="en-US" sz="1000" dirty="0">
                <a:solidFill>
                  <a:srgbClr val="BFDBFE"/>
                </a:solidFill>
              </a:rPr>
              <a:t>descriptors</a:t>
            </a:r>
            <a:endParaRPr lang="en-US" sz="1000" dirty="0"/>
          </a:p>
        </p:txBody>
      </p:sp>
      <p:sp>
        <p:nvSpPr>
          <p:cNvPr id="16" name="Text 14"/>
          <p:cNvSpPr/>
          <p:nvPr/>
        </p:nvSpPr>
        <p:spPr>
          <a:xfrm>
            <a:off x="4572000" y="1737360"/>
            <a:ext cx="1828800" cy="320040"/>
          </a:xfrm>
          <a:prstGeom prst="rect">
            <a:avLst/>
          </a:prstGeom>
          <a:noFill/>
          <a:ln/>
        </p:spPr>
        <p:txBody>
          <a:bodyPr wrap="square" lIns="0" tIns="0" rIns="0" bIns="0" rtlCol="0" anchor="ctr"/>
          <a:lstStyle/>
          <a:p>
            <a:pPr marL="0" indent="0" algn="ctr">
              <a:buNone/>
            </a:pPr>
            <a:r>
              <a:rPr lang="en-US" sz="1800" dirty="0">
                <a:solidFill>
                  <a:srgbClr val="64748B"/>
                </a:solidFill>
              </a:rPr>
              <a:t>▼</a:t>
            </a:r>
            <a:endParaRPr lang="en-US" sz="1800" dirty="0"/>
          </a:p>
        </p:txBody>
      </p:sp>
      <p:sp>
        <p:nvSpPr>
          <p:cNvPr id="17" name="Shape 15"/>
          <p:cNvSpPr/>
          <p:nvPr/>
        </p:nvSpPr>
        <p:spPr>
          <a:xfrm>
            <a:off x="4389120" y="2084832"/>
            <a:ext cx="2194560" cy="658368"/>
          </a:xfrm>
          <a:prstGeom prst="rect">
            <a:avLst/>
          </a:prstGeom>
          <a:solidFill>
            <a:schemeClr val="bg2"/>
          </a:solidFill>
          <a:ln w="19050">
            <a:solidFill>
              <a:schemeClr val="tx2">
                <a:lumMod val="75000"/>
              </a:schemeClr>
            </a:solidFill>
            <a:prstDash val="solid"/>
          </a:ln>
        </p:spPr>
        <p:txBody>
          <a:bodyPr/>
          <a:lstStyle/>
          <a:p>
            <a:endParaRPr lang="fr-FR" dirty="0"/>
          </a:p>
        </p:txBody>
      </p:sp>
      <p:sp>
        <p:nvSpPr>
          <p:cNvPr id="18" name="Text 16"/>
          <p:cNvSpPr/>
          <p:nvPr/>
        </p:nvSpPr>
        <p:spPr>
          <a:xfrm>
            <a:off x="4389120" y="2084832"/>
            <a:ext cx="2194560" cy="658368"/>
          </a:xfrm>
          <a:prstGeom prst="rect">
            <a:avLst/>
          </a:prstGeom>
          <a:noFill/>
          <a:ln/>
        </p:spPr>
        <p:txBody>
          <a:bodyPr wrap="square" lIns="0" tIns="0" rIns="0" bIns="0" rtlCol="0" anchor="ctr"/>
          <a:lstStyle/>
          <a:p>
            <a:pPr marL="0" indent="0" algn="ctr">
              <a:buNone/>
            </a:pPr>
            <a:r>
              <a:rPr lang="en-US" sz="1000" b="1" dirty="0">
                <a:solidFill>
                  <a:schemeClr val="accent1">
                    <a:lumMod val="50000"/>
                  </a:schemeClr>
                </a:solidFill>
                <a:latin typeface="Bodoni MT" panose="02070603080606020203" pitchFamily="18" charset="0"/>
              </a:rPr>
              <a:t>Semantic clustering</a:t>
            </a:r>
            <a:endParaRPr lang="en-US" sz="1000" dirty="0">
              <a:solidFill>
                <a:schemeClr val="accent1">
                  <a:lumMod val="50000"/>
                </a:schemeClr>
              </a:solidFill>
              <a:latin typeface="Bodoni MT" panose="02070603080606020203" pitchFamily="18" charset="0"/>
            </a:endParaRPr>
          </a:p>
        </p:txBody>
      </p:sp>
      <p:sp>
        <p:nvSpPr>
          <p:cNvPr id="19" name="Text 17"/>
          <p:cNvSpPr/>
          <p:nvPr/>
        </p:nvSpPr>
        <p:spPr>
          <a:xfrm>
            <a:off x="4572000" y="2788920"/>
            <a:ext cx="1828800" cy="320040"/>
          </a:xfrm>
          <a:prstGeom prst="rect">
            <a:avLst/>
          </a:prstGeom>
          <a:noFill/>
          <a:ln/>
        </p:spPr>
        <p:txBody>
          <a:bodyPr wrap="square" lIns="0" tIns="0" rIns="0" bIns="0" rtlCol="0" anchor="ctr"/>
          <a:lstStyle/>
          <a:p>
            <a:pPr marL="0" indent="0" algn="ctr">
              <a:buNone/>
            </a:pPr>
            <a:r>
              <a:rPr lang="en-US" sz="1800" dirty="0">
                <a:solidFill>
                  <a:srgbClr val="64748B"/>
                </a:solidFill>
              </a:rPr>
              <a:t>▼</a:t>
            </a:r>
            <a:endParaRPr lang="en-US" sz="1800" dirty="0"/>
          </a:p>
        </p:txBody>
      </p:sp>
      <p:sp>
        <p:nvSpPr>
          <p:cNvPr id="20" name="Shape 18"/>
          <p:cNvSpPr/>
          <p:nvPr/>
        </p:nvSpPr>
        <p:spPr>
          <a:xfrm>
            <a:off x="4572000" y="3136392"/>
            <a:ext cx="1828800" cy="777240"/>
          </a:xfrm>
          <a:prstGeom prst="rect">
            <a:avLst/>
          </a:prstGeom>
          <a:solidFill>
            <a:schemeClr val="tx2">
              <a:lumMod val="75000"/>
            </a:schemeClr>
          </a:solidFill>
          <a:ln w="12700">
            <a:solidFill>
              <a:schemeClr val="tx2">
                <a:lumMod val="75000"/>
              </a:schemeClr>
            </a:solidFill>
            <a:prstDash val="solid"/>
          </a:ln>
        </p:spPr>
        <p:txBody>
          <a:bodyPr/>
          <a:lstStyle/>
          <a:p>
            <a:endParaRPr lang="fr-FR" dirty="0"/>
          </a:p>
        </p:txBody>
      </p:sp>
      <p:sp>
        <p:nvSpPr>
          <p:cNvPr id="21" name="Text 19"/>
          <p:cNvSpPr/>
          <p:nvPr/>
        </p:nvSpPr>
        <p:spPr>
          <a:xfrm>
            <a:off x="4572000" y="3154680"/>
            <a:ext cx="1828800" cy="457200"/>
          </a:xfrm>
          <a:prstGeom prst="rect">
            <a:avLst/>
          </a:prstGeom>
          <a:noFill/>
          <a:ln>
            <a:solidFill>
              <a:schemeClr val="accent1">
                <a:lumMod val="50000"/>
              </a:schemeClr>
            </a:solidFill>
          </a:ln>
        </p:spPr>
        <p:txBody>
          <a:bodyPr wrap="square" lIns="0" tIns="0" rIns="0" bIns="0" rtlCol="0" anchor="ctr"/>
          <a:lstStyle/>
          <a:p>
            <a:pPr marL="0" indent="0" algn="ctr">
              <a:buNone/>
            </a:pPr>
            <a:r>
              <a:rPr lang="en-US" sz="3000" b="1" dirty="0">
                <a:solidFill>
                  <a:srgbClr val="FFFFFF"/>
                </a:solidFill>
              </a:rPr>
              <a:t>12</a:t>
            </a:r>
            <a:endParaRPr lang="en-US" sz="3000" dirty="0"/>
          </a:p>
        </p:txBody>
      </p:sp>
      <p:sp>
        <p:nvSpPr>
          <p:cNvPr id="22" name="Text 20"/>
          <p:cNvSpPr/>
          <p:nvPr/>
        </p:nvSpPr>
        <p:spPr>
          <a:xfrm>
            <a:off x="4572000" y="3584448"/>
            <a:ext cx="1828800" cy="256032"/>
          </a:xfrm>
          <a:prstGeom prst="rect">
            <a:avLst/>
          </a:prstGeom>
          <a:noFill/>
          <a:ln/>
        </p:spPr>
        <p:txBody>
          <a:bodyPr wrap="square" lIns="0" tIns="0" rIns="0" bIns="0" rtlCol="0" anchor="ctr"/>
          <a:lstStyle/>
          <a:p>
            <a:pPr marL="0" indent="0" algn="ctr">
              <a:buNone/>
            </a:pPr>
            <a:r>
              <a:rPr lang="en-US" sz="1000" dirty="0">
                <a:solidFill>
                  <a:srgbClr val="BAE6FD"/>
                </a:solidFill>
              </a:rPr>
              <a:t>metacategories</a:t>
            </a:r>
            <a:endParaRPr lang="en-US" sz="1000" dirty="0"/>
          </a:p>
        </p:txBody>
      </p:sp>
      <p:sp>
        <p:nvSpPr>
          <p:cNvPr id="23" name="Shape 21"/>
          <p:cNvSpPr/>
          <p:nvPr/>
        </p:nvSpPr>
        <p:spPr>
          <a:xfrm>
            <a:off x="6720840" y="914400"/>
            <a:ext cx="914400" cy="566928"/>
          </a:xfrm>
          <a:prstGeom prst="rect">
            <a:avLst/>
          </a:prstGeom>
          <a:solidFill>
            <a:schemeClr val="bg2"/>
          </a:solidFill>
          <a:ln w="12700">
            <a:solidFill>
              <a:srgbClr val="E2E8F0"/>
            </a:solidFill>
            <a:prstDash val="solid"/>
          </a:ln>
        </p:spPr>
        <p:txBody>
          <a:bodyPr/>
          <a:lstStyle/>
          <a:p>
            <a:endParaRPr lang="fr-FR" dirty="0"/>
          </a:p>
        </p:txBody>
      </p:sp>
      <p:sp>
        <p:nvSpPr>
          <p:cNvPr id="24" name="Text 22"/>
          <p:cNvSpPr/>
          <p:nvPr/>
        </p:nvSpPr>
        <p:spPr>
          <a:xfrm>
            <a:off x="6720840" y="914400"/>
            <a:ext cx="914400" cy="566928"/>
          </a:xfrm>
          <a:prstGeom prst="rect">
            <a:avLst/>
          </a:prstGeom>
          <a:noFill/>
          <a:ln/>
        </p:spPr>
        <p:txBody>
          <a:bodyPr wrap="square" lIns="0" tIns="0" rIns="0" bIns="0" rtlCol="0" anchor="ctr"/>
          <a:lstStyle/>
          <a:p>
            <a:pPr marL="0" indent="0" algn="ctr">
              <a:buNone/>
            </a:pPr>
            <a:r>
              <a:rPr lang="en-US" sz="850" dirty="0">
                <a:solidFill>
                  <a:srgbClr val="0F172A"/>
                </a:solidFill>
              </a:rPr>
              <a:t>floral</a:t>
            </a:r>
            <a:endParaRPr lang="en-US" sz="850" dirty="0"/>
          </a:p>
        </p:txBody>
      </p:sp>
      <p:sp>
        <p:nvSpPr>
          <p:cNvPr id="25" name="Shape 23"/>
          <p:cNvSpPr/>
          <p:nvPr/>
        </p:nvSpPr>
        <p:spPr>
          <a:xfrm>
            <a:off x="7708392" y="914400"/>
            <a:ext cx="914400" cy="566928"/>
          </a:xfrm>
          <a:prstGeom prst="rect">
            <a:avLst/>
          </a:prstGeom>
          <a:solidFill>
            <a:schemeClr val="bg2"/>
          </a:solidFill>
          <a:ln w="12700">
            <a:solidFill>
              <a:srgbClr val="E2E8F0"/>
            </a:solidFill>
            <a:prstDash val="solid"/>
          </a:ln>
        </p:spPr>
      </p:sp>
      <p:sp>
        <p:nvSpPr>
          <p:cNvPr id="26" name="Text 24"/>
          <p:cNvSpPr/>
          <p:nvPr/>
        </p:nvSpPr>
        <p:spPr>
          <a:xfrm>
            <a:off x="7708392" y="914400"/>
            <a:ext cx="914400" cy="566928"/>
          </a:xfrm>
          <a:prstGeom prst="rect">
            <a:avLst/>
          </a:prstGeom>
          <a:noFill/>
          <a:ln/>
        </p:spPr>
        <p:txBody>
          <a:bodyPr wrap="square" lIns="0" tIns="0" rIns="0" bIns="0" rtlCol="0" anchor="ctr"/>
          <a:lstStyle/>
          <a:p>
            <a:pPr marL="0" indent="0" algn="ctr">
              <a:buNone/>
            </a:pPr>
            <a:r>
              <a:rPr lang="en-US" sz="850" dirty="0">
                <a:solidFill>
                  <a:srgbClr val="0F172A"/>
                </a:solidFill>
              </a:rPr>
              <a:t>fruity</a:t>
            </a:r>
            <a:endParaRPr lang="en-US" sz="850" dirty="0"/>
          </a:p>
        </p:txBody>
      </p:sp>
      <p:sp>
        <p:nvSpPr>
          <p:cNvPr id="27" name="Shape 25"/>
          <p:cNvSpPr/>
          <p:nvPr/>
        </p:nvSpPr>
        <p:spPr>
          <a:xfrm>
            <a:off x="6720840" y="1581912"/>
            <a:ext cx="914400" cy="566928"/>
          </a:xfrm>
          <a:prstGeom prst="rect">
            <a:avLst/>
          </a:prstGeom>
          <a:solidFill>
            <a:schemeClr val="bg2"/>
          </a:solidFill>
          <a:ln w="12700">
            <a:solidFill>
              <a:srgbClr val="E2E8F0"/>
            </a:solidFill>
            <a:prstDash val="solid"/>
          </a:ln>
        </p:spPr>
      </p:sp>
      <p:sp>
        <p:nvSpPr>
          <p:cNvPr id="28" name="Text 26"/>
          <p:cNvSpPr/>
          <p:nvPr/>
        </p:nvSpPr>
        <p:spPr>
          <a:xfrm>
            <a:off x="6720840" y="1581912"/>
            <a:ext cx="914400" cy="566928"/>
          </a:xfrm>
          <a:prstGeom prst="rect">
            <a:avLst/>
          </a:prstGeom>
          <a:noFill/>
          <a:ln/>
        </p:spPr>
        <p:txBody>
          <a:bodyPr wrap="square" lIns="0" tIns="0" rIns="0" bIns="0" rtlCol="0" anchor="ctr"/>
          <a:lstStyle/>
          <a:p>
            <a:pPr marL="0" indent="0" algn="ctr">
              <a:buNone/>
            </a:pPr>
            <a:r>
              <a:rPr lang="en-US" sz="850" dirty="0">
                <a:solidFill>
                  <a:srgbClr val="0F172A"/>
                </a:solidFill>
              </a:rPr>
              <a:t>sweet</a:t>
            </a:r>
            <a:endParaRPr lang="en-US" sz="850" dirty="0"/>
          </a:p>
        </p:txBody>
      </p:sp>
      <p:sp>
        <p:nvSpPr>
          <p:cNvPr id="29" name="Shape 27"/>
          <p:cNvSpPr/>
          <p:nvPr/>
        </p:nvSpPr>
        <p:spPr>
          <a:xfrm>
            <a:off x="7708392" y="1581912"/>
            <a:ext cx="914400" cy="566928"/>
          </a:xfrm>
          <a:prstGeom prst="rect">
            <a:avLst/>
          </a:prstGeom>
          <a:solidFill>
            <a:schemeClr val="bg2"/>
          </a:solidFill>
          <a:ln w="12700">
            <a:solidFill>
              <a:srgbClr val="E2E8F0"/>
            </a:solidFill>
            <a:prstDash val="solid"/>
          </a:ln>
        </p:spPr>
      </p:sp>
      <p:sp>
        <p:nvSpPr>
          <p:cNvPr id="30" name="Text 28"/>
          <p:cNvSpPr/>
          <p:nvPr/>
        </p:nvSpPr>
        <p:spPr>
          <a:xfrm>
            <a:off x="7708392" y="1581912"/>
            <a:ext cx="914400" cy="566928"/>
          </a:xfrm>
          <a:prstGeom prst="rect">
            <a:avLst/>
          </a:prstGeom>
          <a:noFill/>
          <a:ln/>
        </p:spPr>
        <p:txBody>
          <a:bodyPr wrap="square" lIns="0" tIns="0" rIns="0" bIns="0" rtlCol="0" anchor="ctr"/>
          <a:lstStyle/>
          <a:p>
            <a:pPr marL="0" indent="0" algn="ctr">
              <a:buNone/>
            </a:pPr>
            <a:r>
              <a:rPr lang="en-US" sz="850" dirty="0">
                <a:solidFill>
                  <a:srgbClr val="0F172A"/>
                </a:solidFill>
              </a:rPr>
              <a:t>woody</a:t>
            </a:r>
            <a:endParaRPr lang="en-US" sz="850" dirty="0"/>
          </a:p>
        </p:txBody>
      </p:sp>
      <p:sp>
        <p:nvSpPr>
          <p:cNvPr id="31" name="Shape 29"/>
          <p:cNvSpPr/>
          <p:nvPr/>
        </p:nvSpPr>
        <p:spPr>
          <a:xfrm>
            <a:off x="6720840" y="2249424"/>
            <a:ext cx="914400" cy="566928"/>
          </a:xfrm>
          <a:prstGeom prst="rect">
            <a:avLst/>
          </a:prstGeom>
          <a:solidFill>
            <a:schemeClr val="bg2"/>
          </a:solidFill>
          <a:ln w="12700">
            <a:solidFill>
              <a:srgbClr val="E2E8F0"/>
            </a:solidFill>
            <a:prstDash val="solid"/>
          </a:ln>
        </p:spPr>
      </p:sp>
      <p:sp>
        <p:nvSpPr>
          <p:cNvPr id="32" name="Text 30"/>
          <p:cNvSpPr/>
          <p:nvPr/>
        </p:nvSpPr>
        <p:spPr>
          <a:xfrm>
            <a:off x="6720840" y="2249424"/>
            <a:ext cx="914400" cy="566928"/>
          </a:xfrm>
          <a:prstGeom prst="rect">
            <a:avLst/>
          </a:prstGeom>
          <a:noFill/>
          <a:ln/>
        </p:spPr>
        <p:txBody>
          <a:bodyPr wrap="square" lIns="0" tIns="0" rIns="0" bIns="0" rtlCol="0" anchor="ctr"/>
          <a:lstStyle/>
          <a:p>
            <a:pPr marL="0" indent="0" algn="ctr">
              <a:buNone/>
            </a:pPr>
            <a:r>
              <a:rPr lang="en-US" sz="850" dirty="0">
                <a:solidFill>
                  <a:srgbClr val="0F172A"/>
                </a:solidFill>
              </a:rPr>
              <a:t>green</a:t>
            </a:r>
            <a:endParaRPr lang="en-US" sz="850" dirty="0"/>
          </a:p>
        </p:txBody>
      </p:sp>
      <p:sp>
        <p:nvSpPr>
          <p:cNvPr id="33" name="Shape 31"/>
          <p:cNvSpPr/>
          <p:nvPr/>
        </p:nvSpPr>
        <p:spPr>
          <a:xfrm>
            <a:off x="7708392" y="2249424"/>
            <a:ext cx="914400" cy="566928"/>
          </a:xfrm>
          <a:prstGeom prst="rect">
            <a:avLst/>
          </a:prstGeom>
          <a:solidFill>
            <a:schemeClr val="bg2"/>
          </a:solidFill>
          <a:ln w="12700">
            <a:solidFill>
              <a:srgbClr val="E2E8F0"/>
            </a:solidFill>
            <a:prstDash val="solid"/>
          </a:ln>
        </p:spPr>
      </p:sp>
      <p:sp>
        <p:nvSpPr>
          <p:cNvPr id="34" name="Text 32"/>
          <p:cNvSpPr/>
          <p:nvPr/>
        </p:nvSpPr>
        <p:spPr>
          <a:xfrm>
            <a:off x="7708392" y="2249424"/>
            <a:ext cx="914400" cy="566928"/>
          </a:xfrm>
          <a:prstGeom prst="rect">
            <a:avLst/>
          </a:prstGeom>
          <a:noFill/>
          <a:ln/>
        </p:spPr>
        <p:txBody>
          <a:bodyPr wrap="square" lIns="0" tIns="0" rIns="0" bIns="0" rtlCol="0" anchor="ctr"/>
          <a:lstStyle/>
          <a:p>
            <a:pPr marL="0" indent="0" algn="ctr">
              <a:buNone/>
            </a:pPr>
            <a:r>
              <a:rPr lang="en-US" sz="850" dirty="0">
                <a:solidFill>
                  <a:srgbClr val="0F172A"/>
                </a:solidFill>
              </a:rPr>
              <a:t>spicy</a:t>
            </a:r>
            <a:endParaRPr lang="en-US" sz="850" dirty="0"/>
          </a:p>
        </p:txBody>
      </p:sp>
      <p:sp>
        <p:nvSpPr>
          <p:cNvPr id="35" name="Shape 33"/>
          <p:cNvSpPr/>
          <p:nvPr/>
        </p:nvSpPr>
        <p:spPr>
          <a:xfrm>
            <a:off x="6720840" y="2916936"/>
            <a:ext cx="914400" cy="566928"/>
          </a:xfrm>
          <a:prstGeom prst="rect">
            <a:avLst/>
          </a:prstGeom>
          <a:solidFill>
            <a:schemeClr val="bg2"/>
          </a:solidFill>
          <a:ln w="12700">
            <a:solidFill>
              <a:srgbClr val="E2E8F0"/>
            </a:solidFill>
            <a:prstDash val="solid"/>
          </a:ln>
        </p:spPr>
      </p:sp>
      <p:sp>
        <p:nvSpPr>
          <p:cNvPr id="36" name="Text 34"/>
          <p:cNvSpPr/>
          <p:nvPr/>
        </p:nvSpPr>
        <p:spPr>
          <a:xfrm>
            <a:off x="6720840" y="2916936"/>
            <a:ext cx="914400" cy="566928"/>
          </a:xfrm>
          <a:prstGeom prst="rect">
            <a:avLst/>
          </a:prstGeom>
          <a:noFill/>
          <a:ln/>
        </p:spPr>
        <p:txBody>
          <a:bodyPr wrap="square" lIns="0" tIns="0" rIns="0" bIns="0" rtlCol="0" anchor="ctr"/>
          <a:lstStyle/>
          <a:p>
            <a:pPr marL="0" indent="0" algn="ctr">
              <a:buNone/>
            </a:pPr>
            <a:r>
              <a:rPr lang="en-US" sz="850" dirty="0">
                <a:solidFill>
                  <a:srgbClr val="0F172A"/>
                </a:solidFill>
              </a:rPr>
              <a:t>animal</a:t>
            </a:r>
            <a:endParaRPr lang="en-US" sz="850" dirty="0"/>
          </a:p>
          <a:p>
            <a:pPr marL="0" indent="0" algn="ctr">
              <a:buNone/>
            </a:pPr>
            <a:r>
              <a:rPr lang="en-US" sz="850" dirty="0">
                <a:solidFill>
                  <a:srgbClr val="0F172A"/>
                </a:solidFill>
              </a:rPr>
              <a:t>musk</a:t>
            </a:r>
            <a:endParaRPr lang="en-US" sz="850" dirty="0"/>
          </a:p>
        </p:txBody>
      </p:sp>
      <p:sp>
        <p:nvSpPr>
          <p:cNvPr id="37" name="Shape 35"/>
          <p:cNvSpPr/>
          <p:nvPr/>
        </p:nvSpPr>
        <p:spPr>
          <a:xfrm>
            <a:off x="7708392" y="2916936"/>
            <a:ext cx="914400" cy="566928"/>
          </a:xfrm>
          <a:prstGeom prst="rect">
            <a:avLst/>
          </a:prstGeom>
          <a:solidFill>
            <a:schemeClr val="bg2"/>
          </a:solidFill>
          <a:ln w="12700">
            <a:solidFill>
              <a:srgbClr val="E2E8F0"/>
            </a:solidFill>
            <a:prstDash val="solid"/>
          </a:ln>
        </p:spPr>
      </p:sp>
      <p:sp>
        <p:nvSpPr>
          <p:cNvPr id="38" name="Text 36"/>
          <p:cNvSpPr/>
          <p:nvPr/>
        </p:nvSpPr>
        <p:spPr>
          <a:xfrm>
            <a:off x="7708392" y="2916936"/>
            <a:ext cx="914400" cy="566928"/>
          </a:xfrm>
          <a:prstGeom prst="rect">
            <a:avLst/>
          </a:prstGeom>
          <a:noFill/>
          <a:ln/>
        </p:spPr>
        <p:txBody>
          <a:bodyPr wrap="square" lIns="0" tIns="0" rIns="0" bIns="0" rtlCol="0" anchor="ctr"/>
          <a:lstStyle/>
          <a:p>
            <a:pPr marL="0" indent="0" algn="ctr">
              <a:buNone/>
            </a:pPr>
            <a:r>
              <a:rPr lang="en-US" sz="850" dirty="0">
                <a:solidFill>
                  <a:srgbClr val="0F172A"/>
                </a:solidFill>
              </a:rPr>
              <a:t>earthy</a:t>
            </a:r>
            <a:endParaRPr lang="en-US" sz="850" dirty="0"/>
          </a:p>
        </p:txBody>
      </p:sp>
      <p:sp>
        <p:nvSpPr>
          <p:cNvPr id="39" name="Shape 37"/>
          <p:cNvSpPr/>
          <p:nvPr/>
        </p:nvSpPr>
        <p:spPr>
          <a:xfrm>
            <a:off x="6720840" y="3584448"/>
            <a:ext cx="914400" cy="566928"/>
          </a:xfrm>
          <a:prstGeom prst="rect">
            <a:avLst/>
          </a:prstGeom>
          <a:solidFill>
            <a:schemeClr val="bg2"/>
          </a:solidFill>
          <a:ln w="12700">
            <a:solidFill>
              <a:srgbClr val="E2E8F0"/>
            </a:solidFill>
            <a:prstDash val="solid"/>
          </a:ln>
        </p:spPr>
      </p:sp>
      <p:sp>
        <p:nvSpPr>
          <p:cNvPr id="40" name="Text 38"/>
          <p:cNvSpPr/>
          <p:nvPr/>
        </p:nvSpPr>
        <p:spPr>
          <a:xfrm>
            <a:off x="6720840" y="3584448"/>
            <a:ext cx="914400" cy="566928"/>
          </a:xfrm>
          <a:prstGeom prst="rect">
            <a:avLst/>
          </a:prstGeom>
          <a:noFill/>
          <a:ln/>
        </p:spPr>
        <p:txBody>
          <a:bodyPr wrap="square" lIns="0" tIns="0" rIns="0" bIns="0" rtlCol="0" anchor="ctr"/>
          <a:lstStyle/>
          <a:p>
            <a:pPr marL="0" indent="0" algn="ctr">
              <a:buNone/>
            </a:pPr>
            <a:r>
              <a:rPr lang="en-US" sz="850" dirty="0">
                <a:solidFill>
                  <a:srgbClr val="0F172A"/>
                </a:solidFill>
              </a:rPr>
              <a:t>citrus</a:t>
            </a:r>
            <a:endParaRPr lang="en-US" sz="850" dirty="0"/>
          </a:p>
        </p:txBody>
      </p:sp>
      <p:sp>
        <p:nvSpPr>
          <p:cNvPr id="41" name="Shape 39"/>
          <p:cNvSpPr/>
          <p:nvPr/>
        </p:nvSpPr>
        <p:spPr>
          <a:xfrm>
            <a:off x="7708392" y="3584448"/>
            <a:ext cx="914400" cy="566928"/>
          </a:xfrm>
          <a:prstGeom prst="rect">
            <a:avLst/>
          </a:prstGeom>
          <a:solidFill>
            <a:schemeClr val="bg2"/>
          </a:solidFill>
          <a:ln w="12700">
            <a:solidFill>
              <a:srgbClr val="E2E8F0"/>
            </a:solidFill>
            <a:prstDash val="solid"/>
          </a:ln>
        </p:spPr>
      </p:sp>
      <p:sp>
        <p:nvSpPr>
          <p:cNvPr id="42" name="Text 40"/>
          <p:cNvSpPr/>
          <p:nvPr/>
        </p:nvSpPr>
        <p:spPr>
          <a:xfrm>
            <a:off x="7708392" y="3584448"/>
            <a:ext cx="914400" cy="566928"/>
          </a:xfrm>
          <a:prstGeom prst="rect">
            <a:avLst/>
          </a:prstGeom>
          <a:noFill/>
          <a:ln/>
        </p:spPr>
        <p:txBody>
          <a:bodyPr wrap="square" lIns="0" tIns="0" rIns="0" bIns="0" rtlCol="0" anchor="ctr"/>
          <a:lstStyle/>
          <a:p>
            <a:pPr marL="0" indent="0" algn="ctr">
              <a:buNone/>
            </a:pPr>
            <a:r>
              <a:rPr lang="en-US" sz="850" dirty="0">
                <a:solidFill>
                  <a:srgbClr val="0F172A"/>
                </a:solidFill>
              </a:rPr>
              <a:t>chemical</a:t>
            </a:r>
            <a:endParaRPr lang="en-US" sz="850" dirty="0"/>
          </a:p>
        </p:txBody>
      </p:sp>
      <p:sp>
        <p:nvSpPr>
          <p:cNvPr id="43" name="Shape 41"/>
          <p:cNvSpPr/>
          <p:nvPr/>
        </p:nvSpPr>
        <p:spPr>
          <a:xfrm>
            <a:off x="6720840" y="4251960"/>
            <a:ext cx="914400" cy="566928"/>
          </a:xfrm>
          <a:prstGeom prst="rect">
            <a:avLst/>
          </a:prstGeom>
          <a:solidFill>
            <a:schemeClr val="bg2"/>
          </a:solidFill>
          <a:ln w="12700">
            <a:solidFill>
              <a:srgbClr val="E2E8F0"/>
            </a:solidFill>
            <a:prstDash val="solid"/>
          </a:ln>
        </p:spPr>
      </p:sp>
      <p:sp>
        <p:nvSpPr>
          <p:cNvPr id="44" name="Text 42"/>
          <p:cNvSpPr/>
          <p:nvPr/>
        </p:nvSpPr>
        <p:spPr>
          <a:xfrm>
            <a:off x="6720840" y="4251960"/>
            <a:ext cx="914400" cy="566928"/>
          </a:xfrm>
          <a:prstGeom prst="rect">
            <a:avLst/>
          </a:prstGeom>
          <a:noFill/>
          <a:ln/>
        </p:spPr>
        <p:txBody>
          <a:bodyPr wrap="square" lIns="0" tIns="0" rIns="0" bIns="0" rtlCol="0" anchor="ctr"/>
          <a:lstStyle/>
          <a:p>
            <a:pPr marL="0" indent="0" algn="ctr">
              <a:buNone/>
            </a:pPr>
            <a:r>
              <a:rPr lang="en-US" sz="850" dirty="0">
                <a:solidFill>
                  <a:srgbClr val="0F172A"/>
                </a:solidFill>
              </a:rPr>
              <a:t>gourmand</a:t>
            </a:r>
            <a:endParaRPr lang="en-US" sz="850" dirty="0"/>
          </a:p>
        </p:txBody>
      </p:sp>
      <p:sp>
        <p:nvSpPr>
          <p:cNvPr id="45" name="Shape 43"/>
          <p:cNvSpPr/>
          <p:nvPr/>
        </p:nvSpPr>
        <p:spPr>
          <a:xfrm>
            <a:off x="7708392" y="4251960"/>
            <a:ext cx="914400" cy="566928"/>
          </a:xfrm>
          <a:prstGeom prst="rect">
            <a:avLst/>
          </a:prstGeom>
          <a:solidFill>
            <a:schemeClr val="bg2"/>
          </a:solidFill>
          <a:ln w="12700">
            <a:solidFill>
              <a:srgbClr val="E2E8F0"/>
            </a:solidFill>
            <a:prstDash val="solid"/>
          </a:ln>
        </p:spPr>
      </p:sp>
      <p:sp>
        <p:nvSpPr>
          <p:cNvPr id="46" name="Text 44"/>
          <p:cNvSpPr/>
          <p:nvPr/>
        </p:nvSpPr>
        <p:spPr>
          <a:xfrm>
            <a:off x="7708392" y="4251960"/>
            <a:ext cx="914400" cy="566928"/>
          </a:xfrm>
          <a:prstGeom prst="rect">
            <a:avLst/>
          </a:prstGeom>
          <a:noFill/>
          <a:ln/>
        </p:spPr>
        <p:txBody>
          <a:bodyPr wrap="square" lIns="0" tIns="0" rIns="0" bIns="0" rtlCol="0" anchor="ctr"/>
          <a:lstStyle/>
          <a:p>
            <a:pPr marL="0" indent="0" algn="ctr">
              <a:buNone/>
            </a:pPr>
            <a:r>
              <a:rPr lang="en-US" sz="850" dirty="0">
                <a:solidFill>
                  <a:srgbClr val="0F172A"/>
                </a:solidFill>
              </a:rPr>
              <a:t>powdery</a:t>
            </a:r>
            <a:endParaRPr lang="en-US" sz="850" dirty="0"/>
          </a:p>
          <a:p>
            <a:pPr marL="0" indent="0" algn="ctr">
              <a:buNone/>
            </a:pPr>
            <a:r>
              <a:rPr lang="en-US" sz="850" dirty="0">
                <a:solidFill>
                  <a:srgbClr val="0F172A"/>
                </a:solidFill>
              </a:rPr>
              <a:t>amber</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marL="0" indent="0" algn="l">
              <a:buNone/>
            </a:pPr>
            <a:r>
              <a:rPr lang="en-US" sz="2600" b="1" dirty="0">
                <a:solidFill>
                  <a:schemeClr val="tx2">
                    <a:lumMod val="75000"/>
                  </a:schemeClr>
                </a:solidFill>
                <a:latin typeface="Bodoni MT" panose="02070603080606020203" pitchFamily="18" charset="0"/>
                <a:ea typeface="Calibri" pitchFamily="34" charset="-122"/>
                <a:cs typeface="Calibri" pitchFamily="34" charset="-120"/>
              </a:rPr>
              <a:t>Why Reduce to 12 Labels?</a:t>
            </a:r>
            <a:endParaRPr lang="en-US" sz="2600" dirty="0">
              <a:solidFill>
                <a:schemeClr val="tx2">
                  <a:lumMod val="75000"/>
                </a:schemeClr>
              </a:solidFill>
              <a:latin typeface="Bodoni MT" panose="02070603080606020203" pitchFamily="18" charset="0"/>
            </a:endParaRPr>
          </a:p>
        </p:txBody>
      </p:sp>
      <p:sp>
        <p:nvSpPr>
          <p:cNvPr id="3" name="Shape 1"/>
          <p:cNvSpPr/>
          <p:nvPr/>
        </p:nvSpPr>
        <p:spPr>
          <a:xfrm>
            <a:off x="457200" y="1143000"/>
            <a:ext cx="2331720" cy="2651760"/>
          </a:xfrm>
          <a:prstGeom prst="rect">
            <a:avLst/>
          </a:prstGeom>
          <a:solidFill>
            <a:schemeClr val="bg2"/>
          </a:solidFill>
          <a:ln w="25400">
            <a:solidFill>
              <a:schemeClr val="tx2"/>
            </a:solidFill>
            <a:prstDash val="solid"/>
          </a:ln>
        </p:spPr>
      </p:sp>
      <p:sp>
        <p:nvSpPr>
          <p:cNvPr id="4" name="Shape 2"/>
          <p:cNvSpPr/>
          <p:nvPr/>
        </p:nvSpPr>
        <p:spPr>
          <a:xfrm>
            <a:off x="457200" y="1143000"/>
            <a:ext cx="2331720" cy="402336"/>
          </a:xfrm>
          <a:prstGeom prst="rect">
            <a:avLst/>
          </a:prstGeom>
          <a:solidFill>
            <a:schemeClr val="tx2">
              <a:lumMod val="75000"/>
            </a:schemeClr>
          </a:solidFill>
          <a:ln w="12700">
            <a:solidFill>
              <a:schemeClr val="tx2">
                <a:lumMod val="50000"/>
              </a:schemeClr>
            </a:solidFill>
            <a:prstDash val="solid"/>
          </a:ln>
        </p:spPr>
        <p:txBody>
          <a:bodyPr/>
          <a:lstStyle/>
          <a:p>
            <a:endParaRPr lang="fr-FR" dirty="0"/>
          </a:p>
        </p:txBody>
      </p:sp>
      <p:sp>
        <p:nvSpPr>
          <p:cNvPr id="5" name="Text 3"/>
          <p:cNvSpPr/>
          <p:nvPr/>
        </p:nvSpPr>
        <p:spPr>
          <a:xfrm>
            <a:off x="457200" y="1143000"/>
            <a:ext cx="2331720" cy="402336"/>
          </a:xfrm>
          <a:prstGeom prst="rect">
            <a:avLst/>
          </a:prstGeom>
          <a:noFill/>
          <a:ln/>
        </p:spPr>
        <p:txBody>
          <a:bodyPr wrap="square" lIns="0" tIns="0" rIns="0" bIns="0" rtlCol="0" anchor="ctr"/>
          <a:lstStyle/>
          <a:p>
            <a:pPr marL="0" indent="0" algn="ctr">
              <a:buNone/>
            </a:pPr>
            <a:r>
              <a:rPr lang="en-US" sz="1100" b="1" dirty="0">
                <a:solidFill>
                  <a:srgbClr val="FFFFFF"/>
                </a:solidFill>
              </a:rPr>
              <a:t>PROBLEM</a:t>
            </a:r>
            <a:endParaRPr lang="en-US" sz="1100" dirty="0"/>
          </a:p>
        </p:txBody>
      </p:sp>
      <p:sp>
        <p:nvSpPr>
          <p:cNvPr id="6" name="Text 4"/>
          <p:cNvSpPr/>
          <p:nvPr/>
        </p:nvSpPr>
        <p:spPr>
          <a:xfrm>
            <a:off x="594360" y="1636776"/>
            <a:ext cx="2057400" cy="2057400"/>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Data is </a:t>
            </a:r>
            <a:r>
              <a:rPr lang="en-US" sz="1200" b="1" dirty="0">
                <a:solidFill>
                  <a:schemeClr val="tx2">
                    <a:lumMod val="75000"/>
                  </a:schemeClr>
                </a:solidFill>
                <a:latin typeface="Calibri" pitchFamily="34" charset="0"/>
                <a:ea typeface="Calibri" pitchFamily="34" charset="-122"/>
                <a:cs typeface="Calibri" pitchFamily="34" charset="-120"/>
              </a:rPr>
              <a:t>multi-label</a:t>
            </a:r>
            <a:r>
              <a:rPr lang="en-US" sz="1200" b="1" dirty="0">
                <a:solidFill>
                  <a:srgbClr val="DC2626"/>
                </a:solidFill>
                <a:latin typeface="Calibri" pitchFamily="34" charset="0"/>
                <a:ea typeface="Calibri" pitchFamily="34" charset="-122"/>
                <a:cs typeface="Calibri" pitchFamily="34" charset="-120"/>
              </a:rPr>
              <a:t>
</a:t>
            </a:r>
            <a:r>
              <a:rPr lang="en-US" sz="1100" dirty="0">
                <a:solidFill>
                  <a:srgbClr val="0F172A"/>
                </a:solidFill>
                <a:latin typeface="Calibri" pitchFamily="34" charset="0"/>
                <a:ea typeface="Calibri" pitchFamily="34" charset="-122"/>
                <a:cs typeface="Calibri" pitchFamily="34" charset="-120"/>
              </a:rPr>
              <a:t>Each molecule carries multiple odor descriptors simultaneously
</a:t>
            </a:r>
            <a:r>
              <a:rPr lang="en-US" sz="1200" b="1" dirty="0">
                <a:solidFill>
                  <a:schemeClr val="tx2">
                    <a:lumMod val="75000"/>
                  </a:schemeClr>
                </a:solidFill>
                <a:latin typeface="Calibri" pitchFamily="34" charset="0"/>
                <a:ea typeface="Calibri" pitchFamily="34" charset="-122"/>
                <a:cs typeface="Calibri" pitchFamily="34" charset="-120"/>
              </a:rPr>
              <a:t>Jad Bio</a:t>
            </a:r>
            <a:r>
              <a:rPr lang="en-US" sz="1100" dirty="0">
                <a:solidFill>
                  <a:schemeClr val="tx2">
                    <a:lumMod val="75000"/>
                  </a:schemeClr>
                </a:solidFill>
                <a:latin typeface="Calibri" pitchFamily="34" charset="0"/>
                <a:ea typeface="Calibri" pitchFamily="34" charset="-122"/>
                <a:cs typeface="Calibri" pitchFamily="34" charset="-120"/>
              </a:rPr>
              <a:t> </a:t>
            </a:r>
            <a:r>
              <a:rPr lang="en-US" sz="1100" dirty="0">
                <a:solidFill>
                  <a:srgbClr val="0F172A"/>
                </a:solidFill>
                <a:latin typeface="Calibri" pitchFamily="34" charset="0"/>
                <a:ea typeface="Calibri" pitchFamily="34" charset="-122"/>
                <a:cs typeface="Calibri" pitchFamily="34" charset="-120"/>
              </a:rPr>
              <a:t>only handles </a:t>
            </a:r>
            <a:r>
              <a:rPr lang="en-US" sz="1100" dirty="0" err="1">
                <a:solidFill>
                  <a:srgbClr val="0F172A"/>
                </a:solidFill>
                <a:latin typeface="Calibri" pitchFamily="34" charset="0"/>
                <a:ea typeface="Calibri" pitchFamily="34" charset="-122"/>
                <a:cs typeface="Calibri" pitchFamily="34" charset="-120"/>
              </a:rPr>
              <a:t>uni</a:t>
            </a:r>
            <a:r>
              <a:rPr lang="en-US" sz="1100" dirty="0">
                <a:solidFill>
                  <a:srgbClr val="0F172A"/>
                </a:solidFill>
                <a:latin typeface="Calibri" pitchFamily="34" charset="0"/>
                <a:ea typeface="Calibri" pitchFamily="34" charset="-122"/>
                <a:cs typeface="Calibri" pitchFamily="34" charset="-120"/>
              </a:rPr>
              <a:t>- label  classification</a:t>
            </a:r>
            <a:endParaRPr lang="en-US" sz="1200" dirty="0"/>
          </a:p>
        </p:txBody>
      </p:sp>
      <p:sp>
        <p:nvSpPr>
          <p:cNvPr id="7" name="Text 5"/>
          <p:cNvSpPr/>
          <p:nvPr/>
        </p:nvSpPr>
        <p:spPr>
          <a:xfrm>
            <a:off x="2788920" y="2194560"/>
            <a:ext cx="667512" cy="548640"/>
          </a:xfrm>
          <a:prstGeom prst="rect">
            <a:avLst/>
          </a:prstGeom>
          <a:noFill/>
          <a:ln/>
        </p:spPr>
        <p:txBody>
          <a:bodyPr wrap="square" lIns="0" tIns="0" rIns="0" bIns="0" rtlCol="0" anchor="ctr"/>
          <a:lstStyle/>
          <a:p>
            <a:pPr marL="0" indent="0" algn="ctr">
              <a:buNone/>
            </a:pPr>
            <a:r>
              <a:rPr lang="en-US" sz="3000" dirty="0">
                <a:solidFill>
                  <a:srgbClr val="64748B"/>
                </a:solidFill>
              </a:rPr>
              <a:t>→</a:t>
            </a:r>
            <a:endParaRPr lang="en-US" sz="3000" dirty="0"/>
          </a:p>
        </p:txBody>
      </p:sp>
      <p:sp>
        <p:nvSpPr>
          <p:cNvPr id="8" name="Text 6"/>
          <p:cNvSpPr/>
          <p:nvPr/>
        </p:nvSpPr>
        <p:spPr>
          <a:xfrm>
            <a:off x="2788920" y="2724912"/>
            <a:ext cx="667512" cy="411480"/>
          </a:xfrm>
          <a:prstGeom prst="rect">
            <a:avLst/>
          </a:prstGeom>
          <a:noFill/>
          <a:ln/>
        </p:spPr>
        <p:txBody>
          <a:bodyPr wrap="square" lIns="0" tIns="0" rIns="0" bIns="0" rtlCol="0" anchor="ctr"/>
          <a:lstStyle/>
          <a:p>
            <a:pPr marL="0" indent="0" algn="ctr">
              <a:buNone/>
            </a:pPr>
            <a:endParaRPr lang="en-US" sz="900" dirty="0"/>
          </a:p>
        </p:txBody>
      </p:sp>
      <p:sp>
        <p:nvSpPr>
          <p:cNvPr id="9" name="Shape 7"/>
          <p:cNvSpPr/>
          <p:nvPr/>
        </p:nvSpPr>
        <p:spPr>
          <a:xfrm>
            <a:off x="3456432" y="1143000"/>
            <a:ext cx="2331720" cy="2651760"/>
          </a:xfrm>
          <a:prstGeom prst="rect">
            <a:avLst/>
          </a:prstGeom>
          <a:solidFill>
            <a:schemeClr val="bg2"/>
          </a:solidFill>
          <a:ln w="25400">
            <a:solidFill>
              <a:schemeClr val="tx2">
                <a:lumMod val="75000"/>
              </a:schemeClr>
            </a:solidFill>
            <a:prstDash val="solid"/>
          </a:ln>
        </p:spPr>
      </p:sp>
      <p:sp>
        <p:nvSpPr>
          <p:cNvPr id="10" name="Shape 8"/>
          <p:cNvSpPr/>
          <p:nvPr/>
        </p:nvSpPr>
        <p:spPr>
          <a:xfrm>
            <a:off x="3456432" y="1143000"/>
            <a:ext cx="2331720" cy="402336"/>
          </a:xfrm>
          <a:prstGeom prst="rect">
            <a:avLst/>
          </a:prstGeom>
          <a:solidFill>
            <a:schemeClr val="tx2">
              <a:lumMod val="75000"/>
            </a:schemeClr>
          </a:solidFill>
          <a:ln w="12700">
            <a:solidFill>
              <a:schemeClr val="tx2">
                <a:lumMod val="75000"/>
              </a:schemeClr>
            </a:solidFill>
            <a:prstDash val="solid"/>
          </a:ln>
        </p:spPr>
      </p:sp>
      <p:sp>
        <p:nvSpPr>
          <p:cNvPr id="11" name="Text 9"/>
          <p:cNvSpPr/>
          <p:nvPr/>
        </p:nvSpPr>
        <p:spPr>
          <a:xfrm>
            <a:off x="3456432" y="1143000"/>
            <a:ext cx="2331720" cy="402336"/>
          </a:xfrm>
          <a:prstGeom prst="rect">
            <a:avLst/>
          </a:prstGeom>
          <a:noFill/>
          <a:ln/>
        </p:spPr>
        <p:txBody>
          <a:bodyPr wrap="square" lIns="0" tIns="0" rIns="0" bIns="0" rtlCol="0" anchor="ctr"/>
          <a:lstStyle/>
          <a:p>
            <a:pPr marL="0" indent="0" algn="ctr">
              <a:buNone/>
            </a:pPr>
            <a:r>
              <a:rPr lang="en-US" sz="1100" b="1" dirty="0">
                <a:solidFill>
                  <a:srgbClr val="FFFFFF"/>
                </a:solidFill>
              </a:rPr>
              <a:t>ATTEMPT</a:t>
            </a:r>
            <a:endParaRPr lang="en-US" sz="1100" dirty="0"/>
          </a:p>
        </p:txBody>
      </p:sp>
      <p:sp>
        <p:nvSpPr>
          <p:cNvPr id="12" name="Text 10"/>
          <p:cNvSpPr/>
          <p:nvPr/>
        </p:nvSpPr>
        <p:spPr>
          <a:xfrm>
            <a:off x="3593592" y="1636776"/>
            <a:ext cx="2057400" cy="205740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One binary classifier
per descriptor (one-vs-rest)
</a:t>
            </a:r>
            <a:r>
              <a:rPr lang="en-US" sz="1800" b="1" dirty="0">
                <a:solidFill>
                  <a:schemeClr val="tx2">
                    <a:lumMod val="75000"/>
                  </a:schemeClr>
                </a:solidFill>
                <a:latin typeface="Calibri" pitchFamily="34" charset="0"/>
                <a:ea typeface="Calibri" pitchFamily="34" charset="-122"/>
                <a:cs typeface="Calibri" pitchFamily="34" charset="-120"/>
              </a:rPr>
              <a:t>138 classifiers</a:t>
            </a:r>
            <a:endParaRPr lang="en-US" sz="1200" dirty="0">
              <a:solidFill>
                <a:schemeClr val="tx2">
                  <a:lumMod val="75000"/>
                </a:schemeClr>
              </a:solidFill>
            </a:endParaRPr>
          </a:p>
          <a:p>
            <a:pPr marL="0" indent="0">
              <a:buNone/>
            </a:pPr>
            <a:endParaRPr lang="en-US" sz="1200" dirty="0"/>
          </a:p>
          <a:p>
            <a:pPr marL="0" indent="0">
              <a:buNone/>
            </a:pPr>
            <a:r>
              <a:rPr lang="en-US" sz="1100" dirty="0">
                <a:solidFill>
                  <a:srgbClr val="0F172A"/>
                </a:solidFill>
                <a:latin typeface="Calibri" pitchFamily="34" charset="0"/>
                <a:ea typeface="Calibri" pitchFamily="34" charset="-122"/>
                <a:cs typeface="Calibri" pitchFamily="34" charset="-120"/>
              </a:rPr>
              <a:t>Too much  to train 138 models only for</a:t>
            </a:r>
            <a:r>
              <a:rPr lang="en-US" sz="1200" dirty="0"/>
              <a:t> </a:t>
            </a:r>
            <a:r>
              <a:rPr lang="en-US" sz="1100" dirty="0">
                <a:solidFill>
                  <a:srgbClr val="0F172A"/>
                </a:solidFill>
                <a:latin typeface="Calibri" pitchFamily="34" charset="0"/>
                <a:ea typeface="Calibri" pitchFamily="34" charset="-122"/>
                <a:cs typeface="Calibri" pitchFamily="34" charset="-120"/>
              </a:rPr>
              <a:t>validation purposes</a:t>
            </a:r>
            <a:endParaRPr lang="en-US" sz="1200" dirty="0"/>
          </a:p>
        </p:txBody>
      </p:sp>
      <p:sp>
        <p:nvSpPr>
          <p:cNvPr id="13" name="Text 11"/>
          <p:cNvSpPr/>
          <p:nvPr/>
        </p:nvSpPr>
        <p:spPr>
          <a:xfrm>
            <a:off x="5788152" y="2194560"/>
            <a:ext cx="667512" cy="548640"/>
          </a:xfrm>
          <a:prstGeom prst="rect">
            <a:avLst/>
          </a:prstGeom>
          <a:noFill/>
          <a:ln/>
        </p:spPr>
        <p:txBody>
          <a:bodyPr wrap="square" lIns="0" tIns="0" rIns="0" bIns="0" rtlCol="0" anchor="ctr"/>
          <a:lstStyle/>
          <a:p>
            <a:pPr marL="0" indent="0" algn="ctr">
              <a:buNone/>
            </a:pPr>
            <a:r>
              <a:rPr lang="en-US" sz="3000" dirty="0">
                <a:solidFill>
                  <a:srgbClr val="64748B"/>
                </a:solidFill>
              </a:rPr>
              <a:t>→</a:t>
            </a:r>
            <a:endParaRPr lang="en-US" sz="3000" dirty="0"/>
          </a:p>
        </p:txBody>
      </p:sp>
      <p:sp>
        <p:nvSpPr>
          <p:cNvPr id="14" name="Text 12"/>
          <p:cNvSpPr/>
          <p:nvPr/>
        </p:nvSpPr>
        <p:spPr>
          <a:xfrm>
            <a:off x="5788152" y="2724912"/>
            <a:ext cx="667512" cy="365760"/>
          </a:xfrm>
          <a:prstGeom prst="rect">
            <a:avLst/>
          </a:prstGeom>
          <a:noFill/>
          <a:ln/>
        </p:spPr>
        <p:txBody>
          <a:bodyPr wrap="square" lIns="0" tIns="0" rIns="0" bIns="0" rtlCol="0" anchor="ctr"/>
          <a:lstStyle/>
          <a:p>
            <a:pPr marL="0" indent="0" algn="ctr">
              <a:buNone/>
            </a:pPr>
            <a:r>
              <a:rPr lang="en-US" sz="900" i="1" dirty="0">
                <a:solidFill>
                  <a:srgbClr val="64748B"/>
                </a:solidFill>
              </a:rPr>
              <a:t>solution</a:t>
            </a:r>
            <a:endParaRPr lang="en-US" sz="900" dirty="0"/>
          </a:p>
        </p:txBody>
      </p:sp>
      <p:sp>
        <p:nvSpPr>
          <p:cNvPr id="15" name="Shape 13"/>
          <p:cNvSpPr/>
          <p:nvPr/>
        </p:nvSpPr>
        <p:spPr>
          <a:xfrm>
            <a:off x="6455664" y="1143000"/>
            <a:ext cx="2331720" cy="2651760"/>
          </a:xfrm>
          <a:prstGeom prst="rect">
            <a:avLst/>
          </a:prstGeom>
          <a:solidFill>
            <a:schemeClr val="bg2"/>
          </a:solidFill>
          <a:ln w="25400">
            <a:solidFill>
              <a:schemeClr val="tx2">
                <a:lumMod val="75000"/>
              </a:schemeClr>
            </a:solidFill>
            <a:prstDash val="solid"/>
          </a:ln>
        </p:spPr>
      </p:sp>
      <p:sp>
        <p:nvSpPr>
          <p:cNvPr id="16" name="Shape 14"/>
          <p:cNvSpPr/>
          <p:nvPr/>
        </p:nvSpPr>
        <p:spPr>
          <a:xfrm>
            <a:off x="6455664" y="1143000"/>
            <a:ext cx="2331720" cy="402336"/>
          </a:xfrm>
          <a:prstGeom prst="rect">
            <a:avLst/>
          </a:prstGeom>
          <a:solidFill>
            <a:schemeClr val="tx2">
              <a:lumMod val="75000"/>
            </a:schemeClr>
          </a:solidFill>
          <a:ln w="12700">
            <a:solidFill>
              <a:schemeClr val="tx2">
                <a:lumMod val="75000"/>
              </a:schemeClr>
            </a:solidFill>
            <a:prstDash val="solid"/>
          </a:ln>
        </p:spPr>
      </p:sp>
      <p:sp>
        <p:nvSpPr>
          <p:cNvPr id="17" name="Text 15"/>
          <p:cNvSpPr/>
          <p:nvPr/>
        </p:nvSpPr>
        <p:spPr>
          <a:xfrm>
            <a:off x="6455664" y="1143000"/>
            <a:ext cx="2331720" cy="402336"/>
          </a:xfrm>
          <a:prstGeom prst="rect">
            <a:avLst/>
          </a:prstGeom>
          <a:noFill/>
          <a:ln/>
        </p:spPr>
        <p:txBody>
          <a:bodyPr wrap="square" lIns="0" tIns="0" rIns="0" bIns="0" rtlCol="0" anchor="ctr"/>
          <a:lstStyle/>
          <a:p>
            <a:pPr marL="0" indent="0" algn="ctr">
              <a:buNone/>
            </a:pPr>
            <a:r>
              <a:rPr lang="en-US" sz="1100" b="1" dirty="0">
                <a:solidFill>
                  <a:srgbClr val="FFFFFF"/>
                </a:solidFill>
              </a:rPr>
              <a:t>SOLUTION</a:t>
            </a:r>
            <a:endParaRPr lang="en-US" sz="1100" dirty="0"/>
          </a:p>
        </p:txBody>
      </p:sp>
      <p:sp>
        <p:nvSpPr>
          <p:cNvPr id="18" name="Text 16"/>
          <p:cNvSpPr/>
          <p:nvPr/>
        </p:nvSpPr>
        <p:spPr>
          <a:xfrm>
            <a:off x="6592824" y="1636776"/>
            <a:ext cx="2057400" cy="2057400"/>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Cluster 138 → </a:t>
            </a:r>
            <a:r>
              <a:rPr lang="en-US" sz="1200" b="1" dirty="0">
                <a:solidFill>
                  <a:schemeClr val="tx2">
                    <a:lumMod val="75000"/>
                  </a:schemeClr>
                </a:solidFill>
                <a:latin typeface="Calibri" pitchFamily="34" charset="0"/>
                <a:ea typeface="Calibri" pitchFamily="34" charset="-122"/>
                <a:cs typeface="Calibri" pitchFamily="34" charset="-120"/>
              </a:rPr>
              <a:t>12 metacategories</a:t>
            </a:r>
            <a:r>
              <a:rPr lang="en-US" sz="1200" b="1" dirty="0">
                <a:solidFill>
                  <a:srgbClr val="16A34A"/>
                </a:solidFill>
                <a:latin typeface="Calibri" pitchFamily="34" charset="0"/>
                <a:ea typeface="Calibri" pitchFamily="34" charset="-122"/>
                <a:cs typeface="Calibri" pitchFamily="34" charset="-120"/>
              </a:rPr>
              <a:t>
</a:t>
            </a:r>
            <a:r>
              <a:rPr lang="en-US" sz="1600" b="1" dirty="0">
                <a:solidFill>
                  <a:schemeClr val="tx2">
                    <a:lumMod val="75000"/>
                  </a:schemeClr>
                </a:solidFill>
                <a:latin typeface="Calibri" pitchFamily="34" charset="0"/>
                <a:ea typeface="Calibri" pitchFamily="34" charset="-122"/>
                <a:cs typeface="Calibri" pitchFamily="34" charset="-120"/>
              </a:rPr>
              <a:t>12 binary classifiers</a:t>
            </a:r>
            <a:r>
              <a:rPr lang="en-US" sz="1600" b="1" dirty="0">
                <a:solidFill>
                  <a:srgbClr val="16A34A"/>
                </a:solidFill>
                <a:latin typeface="Calibri" pitchFamily="34" charset="0"/>
                <a:ea typeface="Calibri" pitchFamily="34" charset="-122"/>
                <a:cs typeface="Calibri" pitchFamily="34" charset="-120"/>
              </a:rPr>
              <a:t>
</a:t>
            </a:r>
            <a:r>
              <a:rPr lang="en-US" sz="1100" dirty="0">
                <a:solidFill>
                  <a:srgbClr val="0F172A"/>
                </a:solidFill>
                <a:latin typeface="Calibri" pitchFamily="34" charset="0"/>
                <a:ea typeface="Calibri" pitchFamily="34" charset="-122"/>
                <a:cs typeface="Calibri" pitchFamily="34" charset="-120"/>
              </a:rPr>
              <a:t>Each label has more positive examples → less sparsity as a bonus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marL="0" indent="0" algn="l">
              <a:buNone/>
            </a:pPr>
            <a:r>
              <a:rPr lang="en-US" sz="2600" b="1" dirty="0">
                <a:solidFill>
                  <a:schemeClr val="tx2">
                    <a:lumMod val="75000"/>
                  </a:schemeClr>
                </a:solidFill>
                <a:latin typeface="Calibri" pitchFamily="34" charset="0"/>
                <a:ea typeface="Calibri" pitchFamily="34" charset="-122"/>
                <a:cs typeface="Calibri" pitchFamily="34" charset="-120"/>
              </a:rPr>
              <a:t>2.2  Label Distribution &amp; Imbalance</a:t>
            </a:r>
            <a:endParaRPr lang="en-US" sz="2600" dirty="0">
              <a:solidFill>
                <a:schemeClr val="tx2">
                  <a:lumMod val="75000"/>
                </a:schemeClr>
              </a:solidFill>
            </a:endParaRPr>
          </a:p>
        </p:txBody>
      </p:sp>
      <p:pic>
        <p:nvPicPr>
          <p:cNvPr id="3" name="Image 0" descr="preencoded.png"/>
          <p:cNvPicPr>
            <a:picLocks noChangeAspect="1"/>
          </p:cNvPicPr>
          <p:nvPr/>
        </p:nvPicPr>
        <p:blipFill>
          <a:blip r:embed="rId3"/>
          <a:stretch>
            <a:fillRect/>
          </a:stretch>
        </p:blipFill>
        <p:spPr>
          <a:xfrm>
            <a:off x="274320" y="822960"/>
            <a:ext cx="8595360" cy="41605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marL="0" indent="0" algn="l">
              <a:buNone/>
            </a:pPr>
            <a:r>
              <a:rPr lang="en-US" sz="2600" b="1" dirty="0">
                <a:solidFill>
                  <a:schemeClr val="tx2">
                    <a:lumMod val="75000"/>
                  </a:schemeClr>
                </a:solidFill>
                <a:latin typeface="Bodoni MT" panose="02070603080606020203" pitchFamily="18" charset="0"/>
                <a:ea typeface="Calibri" pitchFamily="34" charset="-122"/>
                <a:cs typeface="Calibri" pitchFamily="34" charset="-120"/>
              </a:rPr>
              <a:t>The Imbalance Problem : Animal Musk Example</a:t>
            </a:r>
            <a:endParaRPr lang="en-US" sz="2600" dirty="0">
              <a:solidFill>
                <a:schemeClr val="tx2">
                  <a:lumMod val="75000"/>
                </a:schemeClr>
              </a:solidFill>
              <a:latin typeface="Bodoni MT" panose="02070603080606020203" pitchFamily="18" charset="0"/>
            </a:endParaRPr>
          </a:p>
        </p:txBody>
      </p:sp>
      <p:sp>
        <p:nvSpPr>
          <p:cNvPr id="3" name="Shape 1"/>
          <p:cNvSpPr/>
          <p:nvPr/>
        </p:nvSpPr>
        <p:spPr>
          <a:xfrm>
            <a:off x="457200" y="850392"/>
            <a:ext cx="8229600" cy="402336"/>
          </a:xfrm>
          <a:prstGeom prst="rect">
            <a:avLst/>
          </a:prstGeom>
          <a:solidFill>
            <a:srgbClr val="1E3A5F"/>
          </a:solidFill>
          <a:ln w="12700">
            <a:solidFill>
              <a:srgbClr val="1E3A5F"/>
            </a:solidFill>
            <a:prstDash val="solid"/>
          </a:ln>
        </p:spPr>
      </p:sp>
      <p:sp>
        <p:nvSpPr>
          <p:cNvPr id="4" name="Text 2"/>
          <p:cNvSpPr/>
          <p:nvPr/>
        </p:nvSpPr>
        <p:spPr>
          <a:xfrm>
            <a:off x="457200" y="850392"/>
            <a:ext cx="8229600" cy="402336"/>
          </a:xfrm>
          <a:prstGeom prst="rect">
            <a:avLst/>
          </a:prstGeom>
          <a:noFill/>
          <a:ln/>
        </p:spPr>
        <p:txBody>
          <a:bodyPr wrap="square" lIns="0" tIns="0" rIns="0" bIns="0" rtlCol="0" anchor="ctr"/>
          <a:lstStyle/>
          <a:p>
            <a:pPr marL="0" indent="0" algn="ctr">
              <a:buNone/>
            </a:pPr>
            <a:r>
              <a:rPr lang="en-US" sz="1150" dirty="0">
                <a:solidFill>
                  <a:srgbClr val="FFFFFF"/>
                </a:solidFill>
              </a:rPr>
              <a:t>Animal Musk:                  772 positive out of 4,981 total                     only 15.5% of the dataset                                   Severely imbalanced</a:t>
            </a:r>
            <a:endParaRPr lang="en-US" sz="1150" dirty="0"/>
          </a:p>
        </p:txBody>
      </p:sp>
      <p:sp>
        <p:nvSpPr>
          <p:cNvPr id="5" name="Shape 3"/>
          <p:cNvSpPr/>
          <p:nvPr/>
        </p:nvSpPr>
        <p:spPr>
          <a:xfrm>
            <a:off x="457200" y="1371600"/>
            <a:ext cx="2011680" cy="1325880"/>
          </a:xfrm>
          <a:prstGeom prst="rect">
            <a:avLst/>
          </a:prstGeom>
          <a:solidFill>
            <a:schemeClr val="bg2"/>
          </a:solidFill>
          <a:ln w="25400">
            <a:solidFill>
              <a:schemeClr val="tx2">
                <a:lumMod val="75000"/>
              </a:schemeClr>
            </a:solidFill>
            <a:prstDash val="solid"/>
          </a:ln>
        </p:spPr>
        <p:txBody>
          <a:bodyPr/>
          <a:lstStyle/>
          <a:p>
            <a:endParaRPr lang="fr-FR" dirty="0"/>
          </a:p>
        </p:txBody>
      </p:sp>
      <p:sp>
        <p:nvSpPr>
          <p:cNvPr id="6" name="Text 4"/>
          <p:cNvSpPr/>
          <p:nvPr/>
        </p:nvSpPr>
        <p:spPr>
          <a:xfrm>
            <a:off x="457200" y="1463040"/>
            <a:ext cx="2011680" cy="658368"/>
          </a:xfrm>
          <a:prstGeom prst="rect">
            <a:avLst/>
          </a:prstGeom>
          <a:noFill/>
          <a:ln/>
        </p:spPr>
        <p:txBody>
          <a:bodyPr wrap="square" lIns="0" tIns="0" rIns="0" bIns="0" rtlCol="0" anchor="ctr"/>
          <a:lstStyle/>
          <a:p>
            <a:pPr marL="0" indent="0" algn="ctr">
              <a:buNone/>
            </a:pPr>
            <a:r>
              <a:rPr lang="en-US" sz="3000" b="1" dirty="0">
                <a:solidFill>
                  <a:schemeClr val="tx2">
                    <a:lumMod val="75000"/>
                  </a:schemeClr>
                </a:solidFill>
              </a:rPr>
              <a:t>87.9%</a:t>
            </a:r>
            <a:endParaRPr lang="en-US" sz="3000" dirty="0">
              <a:solidFill>
                <a:schemeClr val="tx2">
                  <a:lumMod val="75000"/>
                </a:schemeClr>
              </a:solidFill>
            </a:endParaRPr>
          </a:p>
        </p:txBody>
      </p:sp>
      <p:sp>
        <p:nvSpPr>
          <p:cNvPr id="7" name="Text 5"/>
          <p:cNvSpPr/>
          <p:nvPr/>
        </p:nvSpPr>
        <p:spPr>
          <a:xfrm>
            <a:off x="457200" y="2084832"/>
            <a:ext cx="2011680" cy="320040"/>
          </a:xfrm>
          <a:prstGeom prst="rect">
            <a:avLst/>
          </a:prstGeom>
          <a:noFill/>
          <a:ln/>
        </p:spPr>
        <p:txBody>
          <a:bodyPr wrap="square" lIns="0" tIns="0" rIns="0" bIns="0" rtlCol="0" anchor="ctr"/>
          <a:lstStyle/>
          <a:p>
            <a:pPr marL="0" indent="0" algn="ctr">
              <a:buNone/>
            </a:pPr>
            <a:r>
              <a:rPr lang="en-US" sz="1000" b="1" dirty="0">
                <a:solidFill>
                  <a:srgbClr val="0F172A"/>
                </a:solidFill>
              </a:rPr>
              <a:t>Accuracy</a:t>
            </a:r>
            <a:endParaRPr lang="en-US" sz="1000" dirty="0"/>
          </a:p>
        </p:txBody>
      </p:sp>
      <p:sp>
        <p:nvSpPr>
          <p:cNvPr id="8" name="Text 6"/>
          <p:cNvSpPr/>
          <p:nvPr/>
        </p:nvSpPr>
        <p:spPr>
          <a:xfrm>
            <a:off x="457200" y="2404872"/>
            <a:ext cx="2011680" cy="228600"/>
          </a:xfrm>
          <a:prstGeom prst="rect">
            <a:avLst/>
          </a:prstGeom>
          <a:noFill/>
          <a:ln/>
        </p:spPr>
        <p:txBody>
          <a:bodyPr wrap="square" lIns="0" tIns="0" rIns="0" bIns="0" rtlCol="0" anchor="ctr"/>
          <a:lstStyle/>
          <a:p>
            <a:pPr marL="0" indent="0" algn="ctr">
              <a:buNone/>
            </a:pPr>
            <a:r>
              <a:rPr lang="en-US" sz="900" i="1" dirty="0">
                <a:solidFill>
                  <a:srgbClr val="64748B"/>
                </a:solidFill>
              </a:rPr>
              <a:t>Looks good…</a:t>
            </a:r>
            <a:endParaRPr lang="en-US" sz="900" dirty="0"/>
          </a:p>
        </p:txBody>
      </p:sp>
      <p:sp>
        <p:nvSpPr>
          <p:cNvPr id="9" name="Shape 7"/>
          <p:cNvSpPr/>
          <p:nvPr/>
        </p:nvSpPr>
        <p:spPr>
          <a:xfrm>
            <a:off x="2606040" y="1371600"/>
            <a:ext cx="2011680" cy="1325880"/>
          </a:xfrm>
          <a:prstGeom prst="rect">
            <a:avLst/>
          </a:prstGeom>
          <a:solidFill>
            <a:schemeClr val="bg2"/>
          </a:solidFill>
          <a:ln w="25400">
            <a:solidFill>
              <a:schemeClr val="tx2">
                <a:lumMod val="75000"/>
              </a:schemeClr>
            </a:solidFill>
            <a:prstDash val="solid"/>
          </a:ln>
        </p:spPr>
      </p:sp>
      <p:sp>
        <p:nvSpPr>
          <p:cNvPr id="10" name="Text 8"/>
          <p:cNvSpPr/>
          <p:nvPr/>
        </p:nvSpPr>
        <p:spPr>
          <a:xfrm>
            <a:off x="2606040" y="1463040"/>
            <a:ext cx="2011680" cy="658368"/>
          </a:xfrm>
          <a:prstGeom prst="rect">
            <a:avLst/>
          </a:prstGeom>
          <a:noFill/>
          <a:ln/>
        </p:spPr>
        <p:txBody>
          <a:bodyPr wrap="square" lIns="0" tIns="0" rIns="0" bIns="0" rtlCol="0" anchor="ctr"/>
          <a:lstStyle/>
          <a:p>
            <a:pPr marL="0" indent="0" algn="ctr">
              <a:buNone/>
            </a:pPr>
            <a:r>
              <a:rPr lang="en-US" sz="3000" b="1" dirty="0">
                <a:solidFill>
                  <a:schemeClr val="tx2">
                    <a:lumMod val="75000"/>
                  </a:schemeClr>
                </a:solidFill>
              </a:rPr>
              <a:t>35.4%</a:t>
            </a:r>
            <a:endParaRPr lang="en-US" sz="3000" dirty="0">
              <a:solidFill>
                <a:schemeClr val="tx2">
                  <a:lumMod val="75000"/>
                </a:schemeClr>
              </a:solidFill>
            </a:endParaRPr>
          </a:p>
        </p:txBody>
      </p:sp>
      <p:sp>
        <p:nvSpPr>
          <p:cNvPr id="11" name="Text 9"/>
          <p:cNvSpPr/>
          <p:nvPr/>
        </p:nvSpPr>
        <p:spPr>
          <a:xfrm>
            <a:off x="2606040" y="2084832"/>
            <a:ext cx="2011680" cy="320040"/>
          </a:xfrm>
          <a:prstGeom prst="rect">
            <a:avLst/>
          </a:prstGeom>
          <a:noFill/>
          <a:ln/>
        </p:spPr>
        <p:txBody>
          <a:bodyPr wrap="square" lIns="0" tIns="0" rIns="0" bIns="0" rtlCol="0" anchor="ctr"/>
          <a:lstStyle/>
          <a:p>
            <a:pPr marL="0" indent="0" algn="ctr">
              <a:buNone/>
            </a:pPr>
            <a:r>
              <a:rPr lang="en-US" sz="1000" b="1" dirty="0">
                <a:solidFill>
                  <a:srgbClr val="0F172A"/>
                </a:solidFill>
              </a:rPr>
              <a:t>True Positive Rate</a:t>
            </a:r>
            <a:endParaRPr lang="en-US" sz="1000" dirty="0"/>
          </a:p>
        </p:txBody>
      </p:sp>
      <p:sp>
        <p:nvSpPr>
          <p:cNvPr id="12" name="Text 10"/>
          <p:cNvSpPr/>
          <p:nvPr/>
        </p:nvSpPr>
        <p:spPr>
          <a:xfrm>
            <a:off x="2606040" y="2404872"/>
            <a:ext cx="2011680" cy="228600"/>
          </a:xfrm>
          <a:prstGeom prst="rect">
            <a:avLst/>
          </a:prstGeom>
          <a:noFill/>
          <a:ln/>
        </p:spPr>
        <p:txBody>
          <a:bodyPr wrap="square" lIns="0" tIns="0" rIns="0" bIns="0" rtlCol="0" anchor="ctr"/>
          <a:lstStyle/>
          <a:p>
            <a:pPr marL="0" indent="0" algn="ctr">
              <a:buNone/>
            </a:pPr>
            <a:r>
              <a:rPr lang="en-US" sz="900" i="1" dirty="0">
                <a:solidFill>
                  <a:srgbClr val="64748B"/>
                </a:solidFill>
              </a:rPr>
              <a:t>65% of musks are missed!</a:t>
            </a:r>
            <a:endParaRPr lang="en-US" sz="900" dirty="0"/>
          </a:p>
        </p:txBody>
      </p:sp>
      <p:sp>
        <p:nvSpPr>
          <p:cNvPr id="13" name="Shape 11"/>
          <p:cNvSpPr/>
          <p:nvPr/>
        </p:nvSpPr>
        <p:spPr>
          <a:xfrm>
            <a:off x="4754880" y="1371600"/>
            <a:ext cx="2011680" cy="1325880"/>
          </a:xfrm>
          <a:prstGeom prst="rect">
            <a:avLst/>
          </a:prstGeom>
          <a:solidFill>
            <a:schemeClr val="bg2"/>
          </a:solidFill>
          <a:ln w="25400">
            <a:solidFill>
              <a:schemeClr val="tx2">
                <a:lumMod val="75000"/>
              </a:schemeClr>
            </a:solidFill>
            <a:prstDash val="solid"/>
          </a:ln>
        </p:spPr>
      </p:sp>
      <p:sp>
        <p:nvSpPr>
          <p:cNvPr id="14" name="Text 12"/>
          <p:cNvSpPr/>
          <p:nvPr/>
        </p:nvSpPr>
        <p:spPr>
          <a:xfrm>
            <a:off x="4754880" y="1463040"/>
            <a:ext cx="2011680" cy="658368"/>
          </a:xfrm>
          <a:prstGeom prst="rect">
            <a:avLst/>
          </a:prstGeom>
          <a:noFill/>
          <a:ln/>
        </p:spPr>
        <p:txBody>
          <a:bodyPr wrap="square" lIns="0" tIns="0" rIns="0" bIns="0" rtlCol="0" anchor="ctr"/>
          <a:lstStyle/>
          <a:p>
            <a:pPr marL="0" indent="0" algn="ctr">
              <a:buNone/>
            </a:pPr>
            <a:r>
              <a:rPr lang="en-US" sz="3000" b="1" dirty="0">
                <a:solidFill>
                  <a:schemeClr val="tx2">
                    <a:lumMod val="75000"/>
                  </a:schemeClr>
                </a:solidFill>
              </a:rPr>
              <a:t>66.5%</a:t>
            </a:r>
            <a:endParaRPr lang="en-US" sz="3000" dirty="0">
              <a:solidFill>
                <a:schemeClr val="tx2">
                  <a:lumMod val="75000"/>
                </a:schemeClr>
              </a:solidFill>
            </a:endParaRPr>
          </a:p>
        </p:txBody>
      </p:sp>
      <p:sp>
        <p:nvSpPr>
          <p:cNvPr id="15" name="Text 13"/>
          <p:cNvSpPr/>
          <p:nvPr/>
        </p:nvSpPr>
        <p:spPr>
          <a:xfrm>
            <a:off x="4754880" y="2084832"/>
            <a:ext cx="2011680" cy="320040"/>
          </a:xfrm>
          <a:prstGeom prst="rect">
            <a:avLst/>
          </a:prstGeom>
          <a:noFill/>
          <a:ln/>
        </p:spPr>
        <p:txBody>
          <a:bodyPr wrap="square" lIns="0" tIns="0" rIns="0" bIns="0" rtlCol="0" anchor="ctr"/>
          <a:lstStyle/>
          <a:p>
            <a:pPr marL="0" indent="0" algn="ctr">
              <a:buNone/>
            </a:pPr>
            <a:r>
              <a:rPr lang="en-US" sz="1000" b="1" dirty="0">
                <a:solidFill>
                  <a:srgbClr val="0F172A"/>
                </a:solidFill>
              </a:rPr>
              <a:t>Balanced Accuracy</a:t>
            </a:r>
            <a:endParaRPr lang="en-US" sz="1000" dirty="0"/>
          </a:p>
        </p:txBody>
      </p:sp>
      <p:sp>
        <p:nvSpPr>
          <p:cNvPr id="16" name="Text 14"/>
          <p:cNvSpPr/>
          <p:nvPr/>
        </p:nvSpPr>
        <p:spPr>
          <a:xfrm>
            <a:off x="4754880" y="2404872"/>
            <a:ext cx="2011680" cy="228600"/>
          </a:xfrm>
          <a:prstGeom prst="rect">
            <a:avLst/>
          </a:prstGeom>
          <a:noFill/>
          <a:ln/>
        </p:spPr>
        <p:txBody>
          <a:bodyPr wrap="square" lIns="0" tIns="0" rIns="0" bIns="0" rtlCol="0" anchor="ctr"/>
          <a:lstStyle/>
          <a:p>
            <a:pPr marL="0" indent="0" algn="ctr">
              <a:buNone/>
            </a:pPr>
            <a:r>
              <a:rPr lang="en-US" sz="900" i="1" dirty="0">
                <a:solidFill>
                  <a:srgbClr val="64748B"/>
                </a:solidFill>
              </a:rPr>
              <a:t>Reveals the real picture</a:t>
            </a:r>
            <a:endParaRPr lang="en-US" sz="900" dirty="0"/>
          </a:p>
        </p:txBody>
      </p:sp>
      <p:sp>
        <p:nvSpPr>
          <p:cNvPr id="17" name="Shape 15"/>
          <p:cNvSpPr/>
          <p:nvPr/>
        </p:nvSpPr>
        <p:spPr>
          <a:xfrm>
            <a:off x="6903720" y="1371600"/>
            <a:ext cx="2011680" cy="1325880"/>
          </a:xfrm>
          <a:prstGeom prst="rect">
            <a:avLst/>
          </a:prstGeom>
          <a:solidFill>
            <a:schemeClr val="bg2"/>
          </a:solidFill>
          <a:ln w="25400">
            <a:solidFill>
              <a:schemeClr val="tx2">
                <a:lumMod val="75000"/>
              </a:schemeClr>
            </a:solidFill>
            <a:prstDash val="solid"/>
          </a:ln>
        </p:spPr>
      </p:sp>
      <p:sp>
        <p:nvSpPr>
          <p:cNvPr id="18" name="Text 16"/>
          <p:cNvSpPr/>
          <p:nvPr/>
        </p:nvSpPr>
        <p:spPr>
          <a:xfrm>
            <a:off x="6903720" y="1463040"/>
            <a:ext cx="2011680" cy="658368"/>
          </a:xfrm>
          <a:prstGeom prst="rect">
            <a:avLst/>
          </a:prstGeom>
          <a:noFill/>
          <a:ln/>
        </p:spPr>
        <p:txBody>
          <a:bodyPr wrap="square" lIns="0" tIns="0" rIns="0" bIns="0" rtlCol="0" anchor="ctr"/>
          <a:lstStyle/>
          <a:p>
            <a:pPr marL="0" indent="0" algn="ctr">
              <a:buNone/>
            </a:pPr>
            <a:r>
              <a:rPr lang="en-US" sz="3000" b="1" dirty="0">
                <a:solidFill>
                  <a:schemeClr val="tx2">
                    <a:lumMod val="75000"/>
                  </a:schemeClr>
                </a:solidFill>
              </a:rPr>
              <a:t>47.2%</a:t>
            </a:r>
            <a:endParaRPr lang="en-US" sz="3000" dirty="0">
              <a:solidFill>
                <a:schemeClr val="tx2">
                  <a:lumMod val="75000"/>
                </a:schemeClr>
              </a:solidFill>
            </a:endParaRPr>
          </a:p>
        </p:txBody>
      </p:sp>
      <p:sp>
        <p:nvSpPr>
          <p:cNvPr id="19" name="Text 17"/>
          <p:cNvSpPr/>
          <p:nvPr/>
        </p:nvSpPr>
        <p:spPr>
          <a:xfrm>
            <a:off x="6903720" y="2084832"/>
            <a:ext cx="2011680" cy="320040"/>
          </a:xfrm>
          <a:prstGeom prst="rect">
            <a:avLst/>
          </a:prstGeom>
          <a:noFill/>
          <a:ln/>
        </p:spPr>
        <p:txBody>
          <a:bodyPr wrap="square" lIns="0" tIns="0" rIns="0" bIns="0" rtlCol="0" anchor="ctr"/>
          <a:lstStyle/>
          <a:p>
            <a:pPr marL="0" indent="0" algn="ctr">
              <a:buNone/>
            </a:pPr>
            <a:r>
              <a:rPr lang="en-US" sz="1000" b="1" dirty="0">
                <a:solidFill>
                  <a:srgbClr val="0F172A"/>
                </a:solidFill>
              </a:rPr>
              <a:t>F1 Score</a:t>
            </a:r>
            <a:endParaRPr lang="en-US" sz="1000" dirty="0"/>
          </a:p>
        </p:txBody>
      </p:sp>
      <p:sp>
        <p:nvSpPr>
          <p:cNvPr id="20" name="Text 18"/>
          <p:cNvSpPr/>
          <p:nvPr/>
        </p:nvSpPr>
        <p:spPr>
          <a:xfrm>
            <a:off x="6903720" y="2404872"/>
            <a:ext cx="2011680" cy="228600"/>
          </a:xfrm>
          <a:prstGeom prst="rect">
            <a:avLst/>
          </a:prstGeom>
          <a:noFill/>
          <a:ln/>
        </p:spPr>
        <p:txBody>
          <a:bodyPr wrap="square" lIns="0" tIns="0" rIns="0" bIns="0" rtlCol="0" anchor="ctr"/>
          <a:lstStyle/>
          <a:p>
            <a:pPr marL="0" indent="0" algn="ctr">
              <a:buNone/>
            </a:pPr>
            <a:r>
              <a:rPr lang="en-US" sz="900" i="1" dirty="0">
                <a:solidFill>
                  <a:srgbClr val="64748B"/>
                </a:solidFill>
              </a:rPr>
              <a:t>Poor minority performance</a:t>
            </a:r>
            <a:endParaRPr lang="en-US" sz="900" dirty="0"/>
          </a:p>
        </p:txBody>
      </p:sp>
      <p:sp>
        <p:nvSpPr>
          <p:cNvPr id="23" name="Shape 21"/>
          <p:cNvSpPr/>
          <p:nvPr/>
        </p:nvSpPr>
        <p:spPr>
          <a:xfrm>
            <a:off x="457200" y="3200400"/>
            <a:ext cx="8229600" cy="1627632"/>
          </a:xfrm>
          <a:prstGeom prst="rect">
            <a:avLst/>
          </a:prstGeom>
          <a:solidFill>
            <a:schemeClr val="bg2"/>
          </a:solidFill>
          <a:ln w="19050">
            <a:solidFill>
              <a:schemeClr val="tx2">
                <a:lumMod val="75000"/>
              </a:schemeClr>
            </a:solidFill>
            <a:prstDash val="solid"/>
          </a:ln>
        </p:spPr>
      </p:sp>
      <p:sp>
        <p:nvSpPr>
          <p:cNvPr id="24" name="Shape 22"/>
          <p:cNvSpPr/>
          <p:nvPr/>
        </p:nvSpPr>
        <p:spPr>
          <a:xfrm>
            <a:off x="457200" y="3200400"/>
            <a:ext cx="73152" cy="1627632"/>
          </a:xfrm>
          <a:prstGeom prst="rect">
            <a:avLst/>
          </a:prstGeom>
          <a:solidFill>
            <a:schemeClr val="tx2">
              <a:lumMod val="75000"/>
            </a:schemeClr>
          </a:solidFill>
          <a:ln w="12700">
            <a:solidFill>
              <a:schemeClr val="tx2">
                <a:lumMod val="75000"/>
              </a:schemeClr>
            </a:solidFill>
            <a:prstDash val="solid"/>
          </a:ln>
        </p:spPr>
      </p:sp>
      <p:sp>
        <p:nvSpPr>
          <p:cNvPr id="25" name="Text 23"/>
          <p:cNvSpPr/>
          <p:nvPr/>
        </p:nvSpPr>
        <p:spPr>
          <a:xfrm>
            <a:off x="594360" y="3273552"/>
            <a:ext cx="4572000" cy="347472"/>
          </a:xfrm>
          <a:prstGeom prst="rect">
            <a:avLst/>
          </a:prstGeom>
          <a:noFill/>
          <a:ln/>
        </p:spPr>
        <p:txBody>
          <a:bodyPr wrap="square" lIns="0" tIns="0" rIns="0" bIns="0" rtlCol="0" anchor="ctr"/>
          <a:lstStyle/>
          <a:p>
            <a:pPr marL="0" indent="0">
              <a:buNone/>
            </a:pPr>
            <a:r>
              <a:rPr lang="en-US" sz="1300" b="1" dirty="0">
                <a:solidFill>
                  <a:schemeClr val="tx2">
                    <a:lumMod val="75000"/>
                  </a:schemeClr>
                </a:solidFill>
                <a:latin typeface="Bodoni MT" panose="02070603080606020203" pitchFamily="18" charset="0"/>
              </a:rPr>
              <a:t>Why this matters beyond bad metrics</a:t>
            </a:r>
            <a:endParaRPr lang="en-US" sz="1300" dirty="0">
              <a:solidFill>
                <a:schemeClr val="tx2">
                  <a:lumMod val="75000"/>
                </a:schemeClr>
              </a:solidFill>
              <a:latin typeface="Bodoni MT" panose="02070603080606020203" pitchFamily="18" charset="0"/>
            </a:endParaRPr>
          </a:p>
        </p:txBody>
      </p:sp>
      <p:sp>
        <p:nvSpPr>
          <p:cNvPr id="26" name="Text 24"/>
          <p:cNvSpPr/>
          <p:nvPr/>
        </p:nvSpPr>
        <p:spPr>
          <a:xfrm>
            <a:off x="594360" y="3630168"/>
            <a:ext cx="7955280" cy="1097280"/>
          </a:xfrm>
          <a:prstGeom prst="rect">
            <a:avLst/>
          </a:prstGeom>
          <a:noFill/>
          <a:ln/>
        </p:spPr>
        <p:txBody>
          <a:bodyPr wrap="square" lIns="0" tIns="0" rIns="0" bIns="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The model learns to predict </a:t>
            </a:r>
            <a:r>
              <a:rPr lang="en-US" sz="1200" b="1" dirty="0">
                <a:solidFill>
                  <a:schemeClr val="tx2">
                    <a:lumMod val="75000"/>
                  </a:schemeClr>
                </a:solidFill>
                <a:latin typeface="Calibri" pitchFamily="34" charset="0"/>
                <a:ea typeface="Calibri" pitchFamily="34" charset="-122"/>
                <a:cs typeface="Calibri" pitchFamily="34" charset="-120"/>
              </a:rPr>
              <a:t>not Animal Musk</a:t>
            </a:r>
            <a:r>
              <a:rPr lang="en-US" sz="1200" dirty="0">
                <a:solidFill>
                  <a:schemeClr val="tx2">
                    <a:lumMod val="75000"/>
                  </a:schemeClr>
                </a:solidFill>
                <a:latin typeface="Calibri" pitchFamily="34" charset="0"/>
                <a:ea typeface="Calibri" pitchFamily="34" charset="-122"/>
                <a:cs typeface="Calibri" pitchFamily="34" charset="-120"/>
              </a:rPr>
              <a:t> </a:t>
            </a:r>
            <a:r>
              <a:rPr lang="en-US" sz="1200" dirty="0">
                <a:solidFill>
                  <a:srgbClr val="0F172A"/>
                </a:solidFill>
                <a:latin typeface="Calibri" pitchFamily="34" charset="0"/>
                <a:ea typeface="Calibri" pitchFamily="34" charset="-122"/>
                <a:cs typeface="Calibri" pitchFamily="34" charset="-120"/>
              </a:rPr>
              <a:t>most of the time  which is correct 84.5% of the time by default.
</a:t>
            </a:r>
            <a:r>
              <a:rPr lang="en-US" sz="1200" b="1" dirty="0">
                <a:solidFill>
                  <a:srgbClr val="0F172A"/>
                </a:solidFill>
                <a:latin typeface="Calibri" pitchFamily="34" charset="0"/>
                <a:ea typeface="Calibri" pitchFamily="34" charset="-122"/>
                <a:cs typeface="Calibri" pitchFamily="34" charset="-120"/>
              </a:rPr>
              <a:t>Feature selection becomes corrupted: </a:t>
            </a:r>
            <a:r>
              <a:rPr lang="en-US" sz="1200" dirty="0">
                <a:solidFill>
                  <a:srgbClr val="0F172A"/>
                </a:solidFill>
                <a:latin typeface="Calibri" pitchFamily="34" charset="0"/>
                <a:ea typeface="Calibri" pitchFamily="34" charset="-122"/>
                <a:cs typeface="Calibri" pitchFamily="34" charset="-120"/>
              </a:rPr>
              <a:t>selected features characterize the majority class, not Animal Musk chemistry.</a:t>
            </a:r>
            <a:endParaRPr lang="en-US" sz="1200" dirty="0"/>
          </a:p>
          <a:p>
            <a:pPr marL="0" indent="0">
              <a:buNone/>
            </a:pPr>
            <a:r>
              <a:rPr lang="en-US" sz="1200" dirty="0">
                <a:solidFill>
                  <a:srgbClr val="0F172A"/>
                </a:solidFill>
                <a:latin typeface="Calibri" pitchFamily="34" charset="0"/>
                <a:ea typeface="Calibri" pitchFamily="34" charset="-122"/>
                <a:cs typeface="Calibri" pitchFamily="34" charset="-120"/>
              </a:rPr>
              <a:t>This is not just a performance problem , it is a fundamental validity problem.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475488"/>
          </a:xfrm>
          <a:prstGeom prst="rect">
            <a:avLst/>
          </a:prstGeom>
          <a:noFill/>
          <a:ln/>
        </p:spPr>
        <p:txBody>
          <a:bodyPr wrap="square" lIns="0" tIns="0" rIns="0" bIns="0" rtlCol="0" anchor="ctr"/>
          <a:lstStyle/>
          <a:p>
            <a:pPr marL="0" indent="0" algn="l">
              <a:buNone/>
            </a:pPr>
            <a:r>
              <a:rPr lang="en-US" sz="2300" b="1" dirty="0">
                <a:solidFill>
                  <a:schemeClr val="accent1">
                    <a:lumMod val="50000"/>
                  </a:schemeClr>
                </a:solidFill>
                <a:latin typeface="Bodoni MT" panose="02070603080606020203" pitchFamily="18" charset="0"/>
                <a:ea typeface="Calibri" pitchFamily="34" charset="-122"/>
                <a:cs typeface="Calibri" pitchFamily="34" charset="-120"/>
              </a:rPr>
              <a:t>SMOTE : Synthetic Minority Over-sampling Technique</a:t>
            </a:r>
            <a:endParaRPr lang="en-US" sz="2300" dirty="0">
              <a:solidFill>
                <a:schemeClr val="accent1">
                  <a:lumMod val="50000"/>
                </a:schemeClr>
              </a:solidFill>
              <a:latin typeface="Bodoni MT" panose="02070603080606020203" pitchFamily="18" charset="0"/>
            </a:endParaRPr>
          </a:p>
        </p:txBody>
      </p:sp>
      <p:pic>
        <p:nvPicPr>
          <p:cNvPr id="3" name="Image 0" descr="preencoded.png"/>
          <p:cNvPicPr>
            <a:picLocks noChangeAspect="1"/>
          </p:cNvPicPr>
          <p:nvPr/>
        </p:nvPicPr>
        <p:blipFill>
          <a:blip r:embed="rId3"/>
          <a:stretch>
            <a:fillRect/>
          </a:stretch>
        </p:blipFill>
        <p:spPr>
          <a:xfrm>
            <a:off x="274320" y="749808"/>
            <a:ext cx="8595360" cy="2651760"/>
          </a:xfrm>
          <a:prstGeom prst="rect">
            <a:avLst/>
          </a:prstGeom>
        </p:spPr>
      </p:pic>
      <p:sp>
        <p:nvSpPr>
          <p:cNvPr id="4" name="Shape 1"/>
          <p:cNvSpPr/>
          <p:nvPr/>
        </p:nvSpPr>
        <p:spPr>
          <a:xfrm>
            <a:off x="457200" y="3520440"/>
            <a:ext cx="5303520" cy="685800"/>
          </a:xfrm>
          <a:prstGeom prst="rect">
            <a:avLst/>
          </a:prstGeom>
          <a:solidFill>
            <a:srgbClr val="0F172A"/>
          </a:solidFill>
          <a:ln w="12700">
            <a:solidFill>
              <a:srgbClr val="0F172A"/>
            </a:solidFill>
            <a:prstDash val="solid"/>
          </a:ln>
        </p:spPr>
      </p:sp>
      <p:sp>
        <p:nvSpPr>
          <p:cNvPr id="5" name="Text 2"/>
          <p:cNvSpPr/>
          <p:nvPr/>
        </p:nvSpPr>
        <p:spPr>
          <a:xfrm>
            <a:off x="457200" y="3520440"/>
            <a:ext cx="5303520" cy="685800"/>
          </a:xfrm>
          <a:prstGeom prst="rect">
            <a:avLst/>
          </a:prstGeom>
          <a:noFill/>
          <a:ln/>
        </p:spPr>
        <p:txBody>
          <a:bodyPr wrap="square" lIns="0" tIns="0" rIns="0" bIns="0" rtlCol="0" anchor="ctr"/>
          <a:lstStyle/>
          <a:p>
            <a:pPr marL="0" indent="0" algn="ctr">
              <a:buNone/>
            </a:pPr>
            <a:r>
              <a:rPr lang="en-US" sz="1400" dirty="0">
                <a:solidFill>
                  <a:schemeClr val="bg2"/>
                </a:solidFill>
                <a:latin typeface="Consolas" pitchFamily="34" charset="0"/>
                <a:ea typeface="Consolas" pitchFamily="34" charset="-122"/>
                <a:cs typeface="Consolas" pitchFamily="34" charset="-120"/>
              </a:rPr>
              <a:t>x_new  =  x_i  +  λ · ( x_nn  −  x_i ) </a:t>
            </a:r>
          </a:p>
          <a:p>
            <a:pPr marL="0" indent="0" algn="ctr">
              <a:buNone/>
            </a:pPr>
            <a:r>
              <a:rPr lang="en-US" sz="1400" dirty="0">
                <a:solidFill>
                  <a:schemeClr val="bg2"/>
                </a:solidFill>
                <a:latin typeface="Consolas" pitchFamily="34" charset="0"/>
                <a:ea typeface="Consolas" pitchFamily="34" charset="-122"/>
                <a:cs typeface="Consolas" pitchFamily="34" charset="-120"/>
              </a:rPr>
              <a:t> where  λ  ∈  [0, 1]</a:t>
            </a:r>
            <a:endParaRPr lang="en-US" sz="1400" dirty="0">
              <a:solidFill>
                <a:schemeClr val="bg2"/>
              </a:solidFill>
            </a:endParaRPr>
          </a:p>
        </p:txBody>
      </p:sp>
      <p:sp>
        <p:nvSpPr>
          <p:cNvPr id="6" name="Shape 3"/>
          <p:cNvSpPr/>
          <p:nvPr/>
        </p:nvSpPr>
        <p:spPr>
          <a:xfrm>
            <a:off x="5943600" y="3520440"/>
            <a:ext cx="2743200" cy="685800"/>
          </a:xfrm>
          <a:prstGeom prst="rect">
            <a:avLst/>
          </a:prstGeom>
          <a:solidFill>
            <a:schemeClr val="bg2"/>
          </a:solidFill>
          <a:ln w="12700">
            <a:solidFill>
              <a:srgbClr val="0284C7"/>
            </a:solidFill>
            <a:prstDash val="solid"/>
          </a:ln>
        </p:spPr>
        <p:txBody>
          <a:bodyPr/>
          <a:lstStyle/>
          <a:p>
            <a:endParaRPr lang="fr-FR" dirty="0"/>
          </a:p>
        </p:txBody>
      </p:sp>
      <p:sp>
        <p:nvSpPr>
          <p:cNvPr id="7" name="Text 4"/>
          <p:cNvSpPr/>
          <p:nvPr/>
        </p:nvSpPr>
        <p:spPr>
          <a:xfrm>
            <a:off x="5943600" y="3520440"/>
            <a:ext cx="2743200" cy="685800"/>
          </a:xfrm>
          <a:prstGeom prst="rect">
            <a:avLst/>
          </a:prstGeom>
          <a:noFill/>
          <a:ln>
            <a:solidFill>
              <a:schemeClr val="tx2">
                <a:lumMod val="75000"/>
              </a:schemeClr>
            </a:solidFill>
          </a:ln>
        </p:spPr>
        <p:txBody>
          <a:bodyPr wrap="square" lIns="0" tIns="0" rIns="0" bIns="0" rtlCol="0" anchor="ctr"/>
          <a:lstStyle/>
          <a:p>
            <a:pPr marL="0" indent="0" algn="ctr">
              <a:buNone/>
            </a:pPr>
            <a:r>
              <a:rPr lang="en-US" sz="1050" b="1" dirty="0">
                <a:solidFill>
                  <a:schemeClr val="accent1">
                    <a:lumMod val="50000"/>
                  </a:schemeClr>
                </a:solidFill>
              </a:rPr>
              <a:t>Interpolates in feature space</a:t>
            </a:r>
            <a:endParaRPr lang="en-US" sz="1050" dirty="0">
              <a:solidFill>
                <a:schemeClr val="accent1">
                  <a:lumMod val="50000"/>
                </a:schemeClr>
              </a:solidFill>
            </a:endParaRPr>
          </a:p>
          <a:p>
            <a:pPr marL="0" indent="0" algn="ctr">
              <a:buNone/>
            </a:pPr>
            <a:r>
              <a:rPr lang="en-US" sz="1050" b="1" dirty="0">
                <a:solidFill>
                  <a:schemeClr val="accent1">
                    <a:lumMod val="50000"/>
                  </a:schemeClr>
                </a:solidFill>
              </a:rPr>
              <a:t>Does not invent new chemistry</a:t>
            </a:r>
            <a:endParaRPr lang="en-US" sz="1050" dirty="0">
              <a:solidFill>
                <a:schemeClr val="accent1">
                  <a:lumMod val="50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475488"/>
          </a:xfrm>
          <a:prstGeom prst="rect">
            <a:avLst/>
          </a:prstGeom>
          <a:noFill/>
          <a:ln/>
        </p:spPr>
        <p:txBody>
          <a:bodyPr wrap="square" lIns="0" tIns="0" rIns="0" bIns="0" rtlCol="0" anchor="ctr"/>
          <a:lstStyle/>
          <a:p>
            <a:pPr marL="0" indent="0" algn="l">
              <a:buNone/>
            </a:pPr>
            <a:r>
              <a:rPr lang="en-US" sz="2200" b="1" dirty="0">
                <a:solidFill>
                  <a:schemeClr val="accent1">
                    <a:lumMod val="50000"/>
                  </a:schemeClr>
                </a:solidFill>
                <a:latin typeface="Bodoni MT" panose="02070603080606020203" pitchFamily="18" charset="0"/>
                <a:ea typeface="Calibri" pitchFamily="34" charset="-122"/>
                <a:cs typeface="Calibri" pitchFamily="34" charset="-120"/>
              </a:rPr>
              <a:t>Feature Selection: Before vs After SMOTE  (Animal Musk)</a:t>
            </a:r>
            <a:endParaRPr lang="en-US" sz="2200" dirty="0">
              <a:solidFill>
                <a:schemeClr val="accent1">
                  <a:lumMod val="50000"/>
                </a:schemeClr>
              </a:solidFill>
              <a:latin typeface="Bodoni MT" panose="02070603080606020203" pitchFamily="18" charset="0"/>
            </a:endParaRPr>
          </a:p>
        </p:txBody>
      </p:sp>
      <p:sp>
        <p:nvSpPr>
          <p:cNvPr id="3" name="Shape 1"/>
          <p:cNvSpPr/>
          <p:nvPr/>
        </p:nvSpPr>
        <p:spPr>
          <a:xfrm>
            <a:off x="457200" y="795528"/>
            <a:ext cx="4114800" cy="402336"/>
          </a:xfrm>
          <a:prstGeom prst="rect">
            <a:avLst/>
          </a:prstGeom>
          <a:solidFill>
            <a:schemeClr val="tx2">
              <a:lumMod val="50000"/>
            </a:schemeClr>
          </a:solidFill>
          <a:ln w="12700">
            <a:solidFill>
              <a:schemeClr val="tx2">
                <a:lumMod val="75000"/>
              </a:schemeClr>
            </a:solidFill>
            <a:prstDash val="solid"/>
          </a:ln>
        </p:spPr>
        <p:txBody>
          <a:bodyPr/>
          <a:lstStyle/>
          <a:p>
            <a:endParaRPr lang="fr-FR" dirty="0"/>
          </a:p>
        </p:txBody>
      </p:sp>
      <p:sp>
        <p:nvSpPr>
          <p:cNvPr id="4" name="Text 2"/>
          <p:cNvSpPr/>
          <p:nvPr/>
        </p:nvSpPr>
        <p:spPr>
          <a:xfrm>
            <a:off x="457200" y="795528"/>
            <a:ext cx="4114800" cy="402336"/>
          </a:xfrm>
          <a:prstGeom prst="rect">
            <a:avLst/>
          </a:prstGeom>
          <a:noFill/>
          <a:ln/>
        </p:spPr>
        <p:txBody>
          <a:bodyPr wrap="square" lIns="0" tIns="0" rIns="0" bIns="0" rtlCol="0" anchor="ctr"/>
          <a:lstStyle/>
          <a:p>
            <a:pPr marL="0" indent="0" algn="ctr">
              <a:buNone/>
            </a:pPr>
            <a:r>
              <a:rPr lang="en-US" sz="1200" b="1" dirty="0">
                <a:solidFill>
                  <a:srgbClr val="FFFFFF"/>
                </a:solidFill>
              </a:rPr>
              <a:t>BEFORE SMOTE — Imbalanced</a:t>
            </a:r>
            <a:endParaRPr lang="en-US" sz="1200" dirty="0"/>
          </a:p>
        </p:txBody>
      </p:sp>
      <p:sp>
        <p:nvSpPr>
          <p:cNvPr id="5" name="Shape 3"/>
          <p:cNvSpPr/>
          <p:nvPr/>
        </p:nvSpPr>
        <p:spPr>
          <a:xfrm>
            <a:off x="4663440" y="795528"/>
            <a:ext cx="4114800" cy="402336"/>
          </a:xfrm>
          <a:prstGeom prst="rect">
            <a:avLst/>
          </a:prstGeom>
          <a:solidFill>
            <a:schemeClr val="tx2">
              <a:lumMod val="50000"/>
            </a:schemeClr>
          </a:solidFill>
          <a:ln w="12700">
            <a:solidFill>
              <a:schemeClr val="tx2">
                <a:lumMod val="75000"/>
              </a:schemeClr>
            </a:solidFill>
            <a:prstDash val="solid"/>
          </a:ln>
        </p:spPr>
      </p:sp>
      <p:sp>
        <p:nvSpPr>
          <p:cNvPr id="6" name="Text 4"/>
          <p:cNvSpPr/>
          <p:nvPr/>
        </p:nvSpPr>
        <p:spPr>
          <a:xfrm>
            <a:off x="4663440" y="795528"/>
            <a:ext cx="4114800" cy="402336"/>
          </a:xfrm>
          <a:prstGeom prst="rect">
            <a:avLst/>
          </a:prstGeom>
          <a:noFill/>
          <a:ln/>
        </p:spPr>
        <p:txBody>
          <a:bodyPr wrap="square" lIns="0" tIns="0" rIns="0" bIns="0" rtlCol="0" anchor="ctr"/>
          <a:lstStyle/>
          <a:p>
            <a:pPr marL="0" indent="0" algn="ctr">
              <a:buNone/>
            </a:pPr>
            <a:r>
              <a:rPr lang="en-US" sz="1200" b="1" dirty="0">
                <a:solidFill>
                  <a:srgbClr val="FFFFFF"/>
                </a:solidFill>
              </a:rPr>
              <a:t>AFTER SMOTE — Balanced</a:t>
            </a:r>
            <a:endParaRPr lang="en-US" sz="1200" dirty="0"/>
          </a:p>
        </p:txBody>
      </p:sp>
      <p:pic>
        <p:nvPicPr>
          <p:cNvPr id="7" name="Image 0" descr="preencoded.png"/>
          <p:cNvPicPr>
            <a:picLocks noChangeAspect="1"/>
          </p:cNvPicPr>
          <p:nvPr/>
        </p:nvPicPr>
        <p:blipFill>
          <a:blip r:embed="rId3"/>
          <a:stretch>
            <a:fillRect/>
          </a:stretch>
        </p:blipFill>
        <p:spPr>
          <a:xfrm>
            <a:off x="365760" y="1261872"/>
            <a:ext cx="4206240" cy="2834640"/>
          </a:xfrm>
          <a:prstGeom prst="rect">
            <a:avLst/>
          </a:prstGeom>
        </p:spPr>
      </p:pic>
      <p:pic>
        <p:nvPicPr>
          <p:cNvPr id="8" name="Image 1" descr="preencoded.png"/>
          <p:cNvPicPr>
            <a:picLocks noChangeAspect="1"/>
          </p:cNvPicPr>
          <p:nvPr/>
        </p:nvPicPr>
        <p:blipFill>
          <a:blip r:embed="rId4"/>
          <a:stretch>
            <a:fillRect/>
          </a:stretch>
        </p:blipFill>
        <p:spPr>
          <a:xfrm>
            <a:off x="4572000" y="1261872"/>
            <a:ext cx="4206240" cy="2834640"/>
          </a:xfrm>
          <a:prstGeom prst="rect">
            <a:avLst/>
          </a:prstGeom>
        </p:spPr>
      </p:pic>
      <p:sp>
        <p:nvSpPr>
          <p:cNvPr id="10" name="Text 6"/>
          <p:cNvSpPr/>
          <p:nvPr/>
        </p:nvSpPr>
        <p:spPr>
          <a:xfrm>
            <a:off x="502920" y="4206240"/>
            <a:ext cx="4023360" cy="621792"/>
          </a:xfrm>
          <a:prstGeom prst="rect">
            <a:avLst/>
          </a:prstGeom>
          <a:solidFill>
            <a:schemeClr val="bg2"/>
          </a:solidFill>
          <a:ln>
            <a:solidFill>
              <a:schemeClr val="tx2">
                <a:lumMod val="75000"/>
              </a:schemeClr>
            </a:solidFill>
          </a:ln>
        </p:spPr>
        <p:txBody>
          <a:bodyPr wrap="square" lIns="0" tIns="0" rIns="0" bIns="0" rtlCol="0" anchor="ctr"/>
          <a:lstStyle/>
          <a:p>
            <a:pPr marL="0" indent="0" algn="ctr">
              <a:buNone/>
            </a:pPr>
            <a:r>
              <a:rPr lang="en-US" sz="1000" b="1" dirty="0">
                <a:solidFill>
                  <a:srgbClr val="DC2626"/>
                </a:solidFill>
                <a:latin typeface="Calibri" pitchFamily="34" charset="0"/>
                <a:ea typeface="Calibri" pitchFamily="34" charset="-122"/>
                <a:cs typeface="Calibri" pitchFamily="34" charset="-120"/>
              </a:rPr>
              <a:t>  </a:t>
            </a:r>
            <a:r>
              <a:rPr lang="en-US" sz="1000" b="1" dirty="0">
                <a:solidFill>
                  <a:schemeClr val="accent1">
                    <a:lumMod val="50000"/>
                  </a:schemeClr>
                </a:solidFill>
                <a:latin typeface="Calibri" pitchFamily="34" charset="0"/>
                <a:ea typeface="Calibri" pitchFamily="34" charset="-122"/>
                <a:cs typeface="Calibri" pitchFamily="34" charset="-120"/>
              </a:rPr>
              <a:t>First feature alone (EState_VSA2): 85.7%</a:t>
            </a:r>
            <a:r>
              <a:rPr lang="en-US" sz="1000" b="1" dirty="0">
                <a:solidFill>
                  <a:srgbClr val="DC2626"/>
                </a:solidFill>
                <a:latin typeface="Calibri" pitchFamily="34" charset="0"/>
                <a:ea typeface="Calibri" pitchFamily="34" charset="-122"/>
                <a:cs typeface="Calibri" pitchFamily="34" charset="-120"/>
              </a:rPr>
              <a:t>
</a:t>
            </a:r>
            <a:r>
              <a:rPr lang="en-US" sz="900" dirty="0">
                <a:solidFill>
                  <a:srgbClr val="0F172A"/>
                </a:solidFill>
                <a:latin typeface="Calibri" pitchFamily="34" charset="0"/>
                <a:ea typeface="Calibri" pitchFamily="34" charset="-122"/>
                <a:cs typeface="Calibri" pitchFamily="34" charset="-120"/>
              </a:rPr>
              <a:t>Model is exploiting majority class  and  not learning musk chemistry</a:t>
            </a:r>
            <a:endParaRPr lang="en-US" sz="1000" dirty="0"/>
          </a:p>
        </p:txBody>
      </p:sp>
      <p:sp>
        <p:nvSpPr>
          <p:cNvPr id="12" name="Text 8"/>
          <p:cNvSpPr/>
          <p:nvPr/>
        </p:nvSpPr>
        <p:spPr>
          <a:xfrm>
            <a:off x="4709160" y="4206240"/>
            <a:ext cx="4023360" cy="621792"/>
          </a:xfrm>
          <a:prstGeom prst="rect">
            <a:avLst/>
          </a:prstGeom>
          <a:solidFill>
            <a:schemeClr val="bg2"/>
          </a:solidFill>
          <a:ln>
            <a:solidFill>
              <a:schemeClr val="tx2">
                <a:lumMod val="75000"/>
              </a:schemeClr>
            </a:solidFill>
          </a:ln>
        </p:spPr>
        <p:txBody>
          <a:bodyPr wrap="square" lIns="0" tIns="0" rIns="0" bIns="0" rtlCol="0" anchor="ctr"/>
          <a:lstStyle/>
          <a:p>
            <a:pPr marL="0" indent="0" algn="ctr">
              <a:buNone/>
            </a:pPr>
            <a:r>
              <a:rPr lang="en-US" sz="1000" b="1" dirty="0">
                <a:solidFill>
                  <a:schemeClr val="accent1">
                    <a:lumMod val="50000"/>
                  </a:schemeClr>
                </a:solidFill>
                <a:latin typeface="Calibri" pitchFamily="34" charset="0"/>
                <a:ea typeface="Calibri" pitchFamily="34" charset="-122"/>
                <a:cs typeface="Calibri" pitchFamily="34" charset="-120"/>
              </a:rPr>
              <a:t>First feature (GeomDiameter): 59 %    gradual build-up</a:t>
            </a:r>
            <a:r>
              <a:rPr lang="en-US" sz="1000" b="1" dirty="0">
                <a:solidFill>
                  <a:srgbClr val="16A34A"/>
                </a:solidFill>
                <a:latin typeface="Calibri" pitchFamily="34" charset="0"/>
                <a:ea typeface="Calibri" pitchFamily="34" charset="-122"/>
                <a:cs typeface="Calibri" pitchFamily="34" charset="-120"/>
              </a:rPr>
              <a:t>
</a:t>
            </a:r>
            <a:r>
              <a:rPr lang="en-US" sz="900" dirty="0">
                <a:solidFill>
                  <a:srgbClr val="0F172A"/>
                </a:solidFill>
                <a:latin typeface="Calibri" pitchFamily="34" charset="0"/>
                <a:ea typeface="Calibri" pitchFamily="34" charset="-122"/>
                <a:cs typeface="Calibri" pitchFamily="34" charset="-120"/>
              </a:rPr>
              <a:t>Model is actually learning Animal Musk chemistry</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marL="0" indent="0" algn="l">
              <a:buNone/>
            </a:pPr>
            <a:r>
              <a:rPr lang="en-US" sz="2600" b="1" dirty="0">
                <a:solidFill>
                  <a:schemeClr val="accent1">
                    <a:lumMod val="50000"/>
                  </a:schemeClr>
                </a:solidFill>
                <a:latin typeface="Bodoni MT" panose="02070603080606020203" pitchFamily="18" charset="0"/>
                <a:ea typeface="Calibri" pitchFamily="34" charset="-122"/>
                <a:cs typeface="Calibri" pitchFamily="34" charset="-120"/>
              </a:rPr>
              <a:t>Why Feature Selection After SMOTE Is Valid</a:t>
            </a:r>
            <a:endParaRPr lang="en-US" sz="2600" dirty="0">
              <a:solidFill>
                <a:schemeClr val="accent1">
                  <a:lumMod val="50000"/>
                </a:schemeClr>
              </a:solidFill>
              <a:latin typeface="Bodoni MT" panose="02070603080606020203" pitchFamily="18" charset="0"/>
            </a:endParaRPr>
          </a:p>
        </p:txBody>
      </p:sp>
      <p:sp>
        <p:nvSpPr>
          <p:cNvPr id="3" name="Shape 1"/>
          <p:cNvSpPr/>
          <p:nvPr/>
        </p:nvSpPr>
        <p:spPr>
          <a:xfrm>
            <a:off x="457200" y="914400"/>
            <a:ext cx="8229600" cy="1170432"/>
          </a:xfrm>
          <a:prstGeom prst="rect">
            <a:avLst/>
          </a:prstGeom>
          <a:solidFill>
            <a:schemeClr val="bg2"/>
          </a:solidFill>
          <a:ln w="19050">
            <a:solidFill>
              <a:schemeClr val="tx2">
                <a:lumMod val="75000"/>
              </a:schemeClr>
            </a:solidFill>
            <a:prstDash val="solid"/>
          </a:ln>
        </p:spPr>
      </p:sp>
      <p:sp>
        <p:nvSpPr>
          <p:cNvPr id="4" name="Shape 2"/>
          <p:cNvSpPr/>
          <p:nvPr/>
        </p:nvSpPr>
        <p:spPr>
          <a:xfrm>
            <a:off x="594360" y="1088136"/>
            <a:ext cx="594360" cy="594360"/>
          </a:xfrm>
          <a:prstGeom prst="ellipse">
            <a:avLst/>
          </a:prstGeom>
          <a:solidFill>
            <a:schemeClr val="tx2">
              <a:lumMod val="75000"/>
            </a:schemeClr>
          </a:solidFill>
          <a:ln w="12700">
            <a:solidFill>
              <a:schemeClr val="tx2">
                <a:lumMod val="75000"/>
              </a:schemeClr>
            </a:solidFill>
            <a:prstDash val="solid"/>
          </a:ln>
        </p:spPr>
        <p:txBody>
          <a:bodyPr/>
          <a:lstStyle/>
          <a:p>
            <a:endParaRPr lang="fr-FR" dirty="0"/>
          </a:p>
        </p:txBody>
      </p:sp>
      <p:sp>
        <p:nvSpPr>
          <p:cNvPr id="5" name="Text 3"/>
          <p:cNvSpPr/>
          <p:nvPr/>
        </p:nvSpPr>
        <p:spPr>
          <a:xfrm>
            <a:off x="594360" y="1088136"/>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rPr>
              <a:t>1</a:t>
            </a:r>
            <a:endParaRPr lang="en-US" sz="2200" dirty="0"/>
          </a:p>
        </p:txBody>
      </p:sp>
      <p:sp>
        <p:nvSpPr>
          <p:cNvPr id="6" name="Text 4"/>
          <p:cNvSpPr/>
          <p:nvPr/>
        </p:nvSpPr>
        <p:spPr>
          <a:xfrm>
            <a:off x="1325880" y="1005840"/>
            <a:ext cx="7223760" cy="365760"/>
          </a:xfrm>
          <a:prstGeom prst="rect">
            <a:avLst/>
          </a:prstGeom>
          <a:noFill/>
          <a:ln/>
        </p:spPr>
        <p:txBody>
          <a:bodyPr wrap="square" lIns="0" tIns="0" rIns="0" bIns="0" rtlCol="0" anchor="ctr"/>
          <a:lstStyle/>
          <a:p>
            <a:pPr marL="0" indent="0">
              <a:buNone/>
            </a:pPr>
            <a:r>
              <a:rPr lang="en-US" sz="1300" b="1" dirty="0">
                <a:solidFill>
                  <a:schemeClr val="accent1">
                    <a:lumMod val="50000"/>
                  </a:schemeClr>
                </a:solidFill>
              </a:rPr>
              <a:t>Statistical Prior Correction</a:t>
            </a:r>
            <a:endParaRPr lang="en-US" sz="1300" dirty="0">
              <a:solidFill>
                <a:schemeClr val="accent1">
                  <a:lumMod val="50000"/>
                </a:schemeClr>
              </a:solidFill>
            </a:endParaRPr>
          </a:p>
        </p:txBody>
      </p:sp>
      <p:sp>
        <p:nvSpPr>
          <p:cNvPr id="7" name="Text 5"/>
          <p:cNvSpPr/>
          <p:nvPr/>
        </p:nvSpPr>
        <p:spPr>
          <a:xfrm>
            <a:off x="1325880" y="1371600"/>
            <a:ext cx="7223760" cy="658368"/>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SMOTE corrects the class probability imbalance in the training distribution. It does not generate new chemical patterns ,  it rebalances the weight the classifier assigns to each class during training. All chemical information comes entirely from real molecules.</a:t>
            </a:r>
            <a:endParaRPr lang="en-US" sz="1100" dirty="0"/>
          </a:p>
        </p:txBody>
      </p:sp>
      <p:sp>
        <p:nvSpPr>
          <p:cNvPr id="8" name="Shape 6"/>
          <p:cNvSpPr/>
          <p:nvPr/>
        </p:nvSpPr>
        <p:spPr>
          <a:xfrm>
            <a:off x="457200" y="2212848"/>
            <a:ext cx="8229600" cy="1170432"/>
          </a:xfrm>
          <a:prstGeom prst="rect">
            <a:avLst/>
          </a:prstGeom>
          <a:solidFill>
            <a:schemeClr val="bg2"/>
          </a:solidFill>
          <a:ln w="19050">
            <a:solidFill>
              <a:schemeClr val="tx2">
                <a:lumMod val="75000"/>
              </a:schemeClr>
            </a:solidFill>
            <a:prstDash val="solid"/>
          </a:ln>
        </p:spPr>
      </p:sp>
      <p:sp>
        <p:nvSpPr>
          <p:cNvPr id="9" name="Shape 7"/>
          <p:cNvSpPr/>
          <p:nvPr/>
        </p:nvSpPr>
        <p:spPr>
          <a:xfrm>
            <a:off x="594360" y="2386584"/>
            <a:ext cx="594360" cy="594360"/>
          </a:xfrm>
          <a:prstGeom prst="ellipse">
            <a:avLst/>
          </a:prstGeom>
          <a:solidFill>
            <a:schemeClr val="tx2">
              <a:lumMod val="75000"/>
            </a:schemeClr>
          </a:solidFill>
          <a:ln w="12700">
            <a:solidFill>
              <a:schemeClr val="tx2">
                <a:lumMod val="75000"/>
              </a:schemeClr>
            </a:solidFill>
            <a:prstDash val="solid"/>
          </a:ln>
        </p:spPr>
      </p:sp>
      <p:sp>
        <p:nvSpPr>
          <p:cNvPr id="10" name="Text 8"/>
          <p:cNvSpPr/>
          <p:nvPr/>
        </p:nvSpPr>
        <p:spPr>
          <a:xfrm>
            <a:off x="594360" y="2386584"/>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rPr>
              <a:t>2</a:t>
            </a:r>
            <a:endParaRPr lang="en-US" sz="2200" dirty="0"/>
          </a:p>
        </p:txBody>
      </p:sp>
      <p:sp>
        <p:nvSpPr>
          <p:cNvPr id="11" name="Text 9"/>
          <p:cNvSpPr/>
          <p:nvPr/>
        </p:nvSpPr>
        <p:spPr>
          <a:xfrm>
            <a:off x="1325880" y="2304288"/>
            <a:ext cx="7223760" cy="365760"/>
          </a:xfrm>
          <a:prstGeom prst="rect">
            <a:avLst/>
          </a:prstGeom>
          <a:noFill/>
          <a:ln/>
        </p:spPr>
        <p:txBody>
          <a:bodyPr wrap="square" lIns="0" tIns="0" rIns="0" bIns="0" rtlCol="0" anchor="ctr"/>
          <a:lstStyle/>
          <a:p>
            <a:pPr marL="0" indent="0">
              <a:buNone/>
            </a:pPr>
            <a:r>
              <a:rPr lang="en-US" sz="1300" b="1" dirty="0">
                <a:solidFill>
                  <a:schemeClr val="accent1">
                    <a:lumMod val="50000"/>
                  </a:schemeClr>
                </a:solidFill>
              </a:rPr>
              <a:t>Train / Test Separation</a:t>
            </a:r>
            <a:endParaRPr lang="en-US" sz="1300" dirty="0">
              <a:solidFill>
                <a:schemeClr val="accent1">
                  <a:lumMod val="50000"/>
                </a:schemeClr>
              </a:solidFill>
            </a:endParaRPr>
          </a:p>
        </p:txBody>
      </p:sp>
      <p:sp>
        <p:nvSpPr>
          <p:cNvPr id="12" name="Text 10"/>
          <p:cNvSpPr/>
          <p:nvPr/>
        </p:nvSpPr>
        <p:spPr>
          <a:xfrm>
            <a:off x="1325880" y="2670048"/>
            <a:ext cx="7223760" cy="658368"/>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SMOTE was applied only to the training split. The test set contains exclusively real molecules. This preserves the integrity of generalization. Jad Bio's evaluation metrics are discarded (computed on SMOTE-augmented data), but this does not affect the validity of feature selection.</a:t>
            </a:r>
            <a:endParaRPr lang="en-US" sz="1100" dirty="0"/>
          </a:p>
        </p:txBody>
      </p:sp>
      <p:sp>
        <p:nvSpPr>
          <p:cNvPr id="13" name="Shape 11"/>
          <p:cNvSpPr/>
          <p:nvPr/>
        </p:nvSpPr>
        <p:spPr>
          <a:xfrm>
            <a:off x="457200" y="3511296"/>
            <a:ext cx="8229600" cy="1170432"/>
          </a:xfrm>
          <a:prstGeom prst="rect">
            <a:avLst/>
          </a:prstGeom>
          <a:solidFill>
            <a:schemeClr val="bg2"/>
          </a:solidFill>
          <a:ln w="19050">
            <a:solidFill>
              <a:schemeClr val="tx2">
                <a:lumMod val="75000"/>
              </a:schemeClr>
            </a:solidFill>
            <a:prstDash val="solid"/>
          </a:ln>
        </p:spPr>
      </p:sp>
      <p:sp>
        <p:nvSpPr>
          <p:cNvPr id="14" name="Shape 12"/>
          <p:cNvSpPr/>
          <p:nvPr/>
        </p:nvSpPr>
        <p:spPr>
          <a:xfrm>
            <a:off x="594360" y="3685032"/>
            <a:ext cx="594360" cy="594360"/>
          </a:xfrm>
          <a:prstGeom prst="ellipse">
            <a:avLst/>
          </a:prstGeom>
          <a:solidFill>
            <a:schemeClr val="tx2">
              <a:lumMod val="75000"/>
            </a:schemeClr>
          </a:solidFill>
          <a:ln w="12700">
            <a:solidFill>
              <a:schemeClr val="tx2">
                <a:lumMod val="75000"/>
              </a:schemeClr>
            </a:solidFill>
            <a:prstDash val="solid"/>
          </a:ln>
        </p:spPr>
      </p:sp>
      <p:sp>
        <p:nvSpPr>
          <p:cNvPr id="15" name="Text 13"/>
          <p:cNvSpPr/>
          <p:nvPr/>
        </p:nvSpPr>
        <p:spPr>
          <a:xfrm>
            <a:off x="594360" y="3685032"/>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rPr>
              <a:t>3</a:t>
            </a:r>
            <a:endParaRPr lang="en-US" sz="2200" dirty="0"/>
          </a:p>
        </p:txBody>
      </p:sp>
      <p:sp>
        <p:nvSpPr>
          <p:cNvPr id="16" name="Text 14"/>
          <p:cNvSpPr/>
          <p:nvPr/>
        </p:nvSpPr>
        <p:spPr>
          <a:xfrm>
            <a:off x="1325880" y="3602736"/>
            <a:ext cx="7223760" cy="365760"/>
          </a:xfrm>
          <a:prstGeom prst="rect">
            <a:avLst/>
          </a:prstGeom>
          <a:noFill/>
          <a:ln/>
        </p:spPr>
        <p:txBody>
          <a:bodyPr wrap="square" lIns="0" tIns="0" rIns="0" bIns="0" rtlCol="0" anchor="ctr"/>
          <a:lstStyle/>
          <a:p>
            <a:pPr marL="0" indent="0">
              <a:buNone/>
            </a:pPr>
            <a:r>
              <a:rPr lang="en-US" sz="1300" b="1" dirty="0">
                <a:solidFill>
                  <a:schemeClr val="accent1">
                    <a:lumMod val="50000"/>
                  </a:schemeClr>
                </a:solidFill>
              </a:rPr>
              <a:t>Feature Selection Is Grounded in Real Data</a:t>
            </a:r>
            <a:endParaRPr lang="en-US" sz="1300" dirty="0">
              <a:solidFill>
                <a:schemeClr val="accent1">
                  <a:lumMod val="50000"/>
                </a:schemeClr>
              </a:solidFill>
            </a:endParaRPr>
          </a:p>
        </p:txBody>
      </p:sp>
      <p:sp>
        <p:nvSpPr>
          <p:cNvPr id="17" name="Text 15"/>
          <p:cNvSpPr/>
          <p:nvPr/>
        </p:nvSpPr>
        <p:spPr>
          <a:xfrm>
            <a:off x="1325880" y="3968496"/>
            <a:ext cx="7223760" cy="658368"/>
          </a:xfrm>
          <a:prstGeom prst="rect">
            <a:avLst/>
          </a:prstGeom>
          <a:noFill/>
          <a:ln/>
        </p:spPr>
        <p:txBody>
          <a:bodyPr wrap="square" lIns="0" tIns="0" rIns="0" bIns="0" rtlCol="0" anchor="ctr"/>
          <a:lstStyle/>
          <a:p>
            <a:pPr marL="0" indent="0">
              <a:buNone/>
            </a:pPr>
            <a:r>
              <a:rPr lang="en-US" sz="1100" dirty="0">
                <a:solidFill>
                  <a:srgbClr val="0F172A"/>
                </a:solidFill>
                <a:latin typeface="Calibri" pitchFamily="34" charset="0"/>
                <a:ea typeface="Calibri" pitchFamily="34" charset="-122"/>
                <a:cs typeface="Calibri" pitchFamily="34" charset="-120"/>
              </a:rPr>
              <a:t>The features selected after balancing are those that genuinely characterize the minority class in the real molecules. Synthetic samples do not introduce new chemical information ,  they simply ensure the classifier pays equal attention to both classes, preventing the corruption we saw in the imbalanced case.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1182</TotalTime>
  <Words>1583</Words>
  <Application>Microsoft Office PowerPoint</Application>
  <PresentationFormat>On-screen Show (16:9)</PresentationFormat>
  <Paragraphs>98</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Bodoni MT</vt:lpstr>
      <vt:lpstr>Calibri</vt:lpstr>
      <vt:lpstr>Calibri Light</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Section 2 – Dataset &amp; Preprocessing</dc:title>
  <dc:subject>PptxGenJS Presentation</dc:subject>
  <dc:creator>PptxGenJS</dc:creator>
  <cp:lastModifiedBy>Nahla</cp:lastModifiedBy>
  <cp:revision>11</cp:revision>
  <dcterms:created xsi:type="dcterms:W3CDTF">2026-05-20T09:56:52Z</dcterms:created>
  <dcterms:modified xsi:type="dcterms:W3CDTF">2026-05-21T09:03:31Z</dcterms:modified>
</cp:coreProperties>
</file>